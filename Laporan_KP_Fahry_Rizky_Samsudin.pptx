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g_k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Bandung, 2026</a:t>
            </a:r>
          </a:p>
        </p:txBody>
      </p:sp>
      <p:pic>
        <p:nvPicPr>
          <p:cNvPr id="5" name="Picture 4" descr="logo_uin_fisika_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228600"/>
            <a:ext cx="2103120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38404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59E0B"/>
                </a:solidFill>
                <a:latin typeface="Arial"/>
              </a:defRPr>
            </a:pPr>
            <a:r>
              <a:t>Seminar Kerja Praktik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37215" cy="1965960"/>
          </a:xfrm>
          <a:prstGeom prst="roundRect">
            <a:avLst/>
          </a:prstGeom>
          <a:solidFill>
            <a:srgbClr val="0F1E44"/>
          </a:solidFill>
          <a:ln w="355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27632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200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RANCANG BANGUN SISTEM VISI KOMPUTER TERTANAM BERBASIS RASPBERRY PI 5 UNTUK KENDALI ROBOT 4-DOF: TELEOPERASI DOBOT MAGICIAN DAN PENGENALAN SIBI PADA MEARM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639312"/>
            <a:ext cx="6705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rial"/>
              </a:defRPr>
            </a:pPr>
            <a:r>
              <a:t>Fahry Rizky Samsudin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NIM. 1237030018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26280"/>
            <a:ext cx="4663440" cy="1234440"/>
          </a:xfrm>
          <a:prstGeom prst="roundRect">
            <a:avLst/>
          </a:prstGeom>
          <a:solidFill>
            <a:srgbClr val="172B5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61772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DOSEN PEMBIMBING I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Dr. Moch Nurul Subkhi, M.Si.</a:t>
            </a:r>
          </a:p>
          <a:p>
            <a:pPr algn="ctr">
              <a:defRPr sz="1050">
                <a:solidFill>
                  <a:srgbClr val="F1F5F9"/>
                </a:solidFill>
                <a:latin typeface="Arial"/>
              </a:defRPr>
            </a:pPr>
            <a:r>
              <a:t>NIP. 19810201 200912 1003 (UIN SGD Bandung)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0975" y="4526280"/>
            <a:ext cx="4663440" cy="1234440"/>
          </a:xfrm>
          <a:prstGeom prst="roundRect">
            <a:avLst/>
          </a:prstGeom>
          <a:solidFill>
            <a:srgbClr val="172B5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135" y="461772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PEMBIMBING II (MITRA INDUSTRI)</a:t>
            </a:r>
          </a:p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Dr. Emmanuel Agung N, S.T, M.T.</a:t>
            </a:r>
          </a:p>
          <a:p>
            <a:pPr algn="ctr">
              <a:defRPr sz="1050">
                <a:solidFill>
                  <a:srgbClr val="F1F5F9"/>
                </a:solidFill>
                <a:latin typeface="Arial"/>
              </a:defRPr>
            </a:pPr>
            <a:r>
              <a:t>NIDN. 0407047801 (Politeknik Enjinering Indorama)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61888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JURUSAN FISIKA | FAKULTAS SAINS DAN TEKNOLOGI</a:t>
            </a:r>
            <a:br/>
            <a:r>
              <a:t>UNIVERSITAS ISLAM NEGERI SUNAN GUNUNG DJATI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LATAR BELAKANG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2 / 17</a:t>
            </a:r>
          </a:p>
        </p:txBody>
      </p:sp>
      <p:pic>
        <p:nvPicPr>
          <p:cNvPr id="8" name="Picture 7" descr="Gambar1_1_latar_belakang_flowchart_as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74445"/>
            <a:ext cx="11420856" cy="5329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RUMUSAN MASALAH DAN TUJUAN PENELITIAN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96112"/>
            <a:ext cx="5532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896112"/>
            <a:ext cx="553212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RUMUSAN MASALAH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420624" cy="42062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371600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Bagaimana merancang dan mengimplementasikan sistem visi komputer tertanam (embedded computer vision) menggunakan Raspberry Pi 5 untuk kendali lengan robot 4-DOF?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87752"/>
            <a:ext cx="420624" cy="42062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Bagaimana menerjemahkan sistem pengenalan Sistem Isyarat Bahasa Indonesia (SIBI) menjadi sinyal kendali mekanik pada lengan robot meArm?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58184"/>
            <a:ext cx="420624" cy="42062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12464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Bagaimana memetakan ekstraksi hand landmark dari MediaPipe menjadi pergerakan teleoperasi yang kontinu berdasarkan sistem koordinat spasial (X, Y, Z) pada lengan robot Dobot Magician?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896112"/>
            <a:ext cx="5532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896112"/>
            <a:ext cx="553212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TUJUAN PENELITIAN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28232" y="1417320"/>
            <a:ext cx="420624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1371600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Merancang bangun sistem antarmuka nirsentuh (contactless) untuk mengontrol manipulator robot 4-DOF melalui pemanfaatan visi komputer berbasis sistem tertanam Raspberry Pi 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2587752"/>
            <a:ext cx="420624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42032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Menguji dan menganalisis tingkat keberhasilan integrasi pengenalan SIBI sebagai metode instruksi kendali diskret pada manipulator meArm.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3758184"/>
            <a:ext cx="420624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3712464"/>
            <a:ext cx="4709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defRPr sz="1150">
                <a:solidFill>
                  <a:srgbClr val="0F172A"/>
                </a:solidFill>
                <a:latin typeface="Arial"/>
              </a:defRPr>
            </a:pPr>
            <a:r>
              <a:t>Mengimplementasikan dan mengevaluasi respons kinematis Dobot Magician saat dikendalikan secara real-time melalui sistem teleoperasi pelacakan tangan (hand tracking).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193792"/>
            <a:ext cx="11365992" cy="12070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5193792"/>
            <a:ext cx="11365992" cy="402336"/>
          </a:xfrm>
          <a:prstGeom prst="roundRect">
            <a:avLst/>
          </a:prstGeom>
          <a:solidFill>
            <a:srgbClr val="1E3A8A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BATASAN MASALAH PENELITIAN (BAB 1.3)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14416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defRPr sz="1019" b="1">
                <a:solidFill>
                  <a:srgbClr val="0F172A"/>
                </a:solidFill>
                <a:latin typeface="Arial"/>
              </a:defRPr>
            </a:pPr>
            <a:r>
              <a:t>1. Komputasi lokal sepenuhnya pada Raspberry Pi 5 (tanpa cloud)   |   2. Pemrograman antarmuka &amp; kinematika berbasis Python 3.9   |   3. Objek uji: manipulator 4-DOF meArm (mode SIBI) &amp; Dobot Magician (mode teleoperasi)</a:t>
            </a:r>
            <a:br/>
            <a:r>
              <a:t>4. Ekstraksi 21 titik persendian tangan menggunakan framework MediaPipe   |   5. Pergerakan robot difokuskan pada penyelesaian Forward &amp; Inverse Kinematics 3D (X, Y, Z).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LANDASAN TEORI (1/3): VISI TERTANAM, EDGE COMPUTING RPI 5, &amp; PYTHON 3.9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Mencakup Sub-Bab 3.1 Embedded Computer Vision, Sub-Bab 3.2 Edge Computing Raspberry Pi 5, dan Sub-Bab 3.7 Python 3.9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388620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88620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3.1 Sistem Visi Komputer Tertanam</a:t>
            </a:r>
          </a:p>
        </p:txBody>
      </p:sp>
      <p:pic>
        <p:nvPicPr>
          <p:cNvPr id="11" name="Picture 10" descr="Gambar3_1_antarmuka_d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1847088"/>
            <a:ext cx="2523744" cy="18928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758183"/>
            <a:ext cx="36118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3.1 Antarmuka Visi Tertanam Dobot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041648"/>
            <a:ext cx="363931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Inferensi Langsung di Lokasi: </a:t>
            </a:r>
            <a:r>
              <a:rPr sz="1050">
                <a:solidFill>
                  <a:srgbClr val="0F172A"/>
                </a:solidFill>
                <a:latin typeface="Arial"/>
              </a:rPr>
              <a:t>Memadukan sistem tertanam dengan algoritma visi komputer untuk memproses citra secara mandiri tanpa peladen awan (Szeliski, 2022).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Eliminasi Delay Transmisi: </a:t>
            </a:r>
            <a:r>
              <a:rPr sz="1050">
                <a:solidFill>
                  <a:srgbClr val="0F172A"/>
                </a:solidFill>
                <a:latin typeface="Arial"/>
              </a:rPr>
              <a:t>Menghilangkan ketergantungan jaringan eksternal dan memangkas transmission delay pada kendali robot real-time (Li et al.,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Efisiensi Beban &amp; Daya: </a:t>
            </a:r>
            <a:r>
              <a:rPr sz="1050">
                <a:solidFill>
                  <a:srgbClr val="0F172A"/>
                </a:solidFill>
                <a:latin typeface="Arial"/>
              </a:rPr>
              <a:t>Dimensi mikrokomputer mereduksi payload mekanis dan konsumsi daya dibanding PC konvensional (Shi et al., 2016).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71600"/>
            <a:ext cx="370332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8" y="1371600"/>
            <a:ext cx="370332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3.2 Edge Computing Raspberry Pi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847088"/>
            <a:ext cx="345643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Paradigma Dekat Sensor: </a:t>
            </a:r>
            <a:r>
              <a:rPr sz="1080">
                <a:solidFill>
                  <a:srgbClr val="0F172A"/>
                </a:solidFill>
                <a:latin typeface="Arial"/>
              </a:rPr>
              <a:t>Mendistribusikan beban komputasi sedekat mungkin dengan sensor kamera guna menghindari disipasi bandwidth dan latensi fluktuatif (Satyanarayanan, 2017).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Hard Real-Time Constraints: </a:t>
            </a:r>
            <a:r>
              <a:rPr sz="1080">
                <a:solidFill>
                  <a:srgbClr val="0F172A"/>
                </a:solidFill>
                <a:latin typeface="Arial"/>
              </a:rPr>
              <a:t>Menarik analitik AI langsung ke lapisan perangkat fisik (device layer) agar waktu respons robot berada dalam batas waktu nyata.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SoC Broadcom BCM2712: </a:t>
            </a:r>
            <a:r>
              <a:rPr sz="1080">
                <a:solidFill>
                  <a:srgbClr val="0F172A"/>
                </a:solidFill>
                <a:latin typeface="Arial"/>
              </a:rPr>
              <a:t>Ditenagai prosesor ARM Cortex-A76 quad-core dengan lonjakan kinerja single-thread untuk inferensi DNN &amp; pelacakan 3D tanpa dedicated GPU (Raspberry Pi Ltd, 2023).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Antarmuka Berkecepatan Tinggi: </a:t>
            </a:r>
            <a:r>
              <a:rPr sz="1080">
                <a:solidFill>
                  <a:srgbClr val="0F172A"/>
                </a:solidFill>
                <a:latin typeface="Arial"/>
              </a:rPr>
              <a:t>Dilengkapi jalur PCIe 2.0 dan bandwidth memori tinggi untuk aplikasi Edge AI robotika industri &amp; edukasi (Wang et al., 2020).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371600"/>
            <a:ext cx="3557016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0456" y="1371600"/>
            <a:ext cx="3557016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3.7 Python 3.9 &amp; Pustaka 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1847088"/>
            <a:ext cx="331012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Bahasa Utama Sistem (Python 3.9): </a:t>
            </a:r>
            <a:r>
              <a:rPr sz="1080">
                <a:solidFill>
                  <a:srgbClr val="0F172A"/>
                </a:solidFill>
                <a:latin typeface="Arial"/>
              </a:rPr>
              <a:t>Sintaks ringkas dan dukungan ekosistem luas untuk pembacaan kamera (OpenCV), ekstraksi MediaPipe, klasifikasi DNN (TensorFlow/Keras), GUI Tkinter, dan komunikasi serial (Python Software Foundation, 2020).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Komputasi Matriks NumPy: </a:t>
            </a:r>
            <a:r>
              <a:rPr sz="1080">
                <a:solidFill>
                  <a:srgbClr val="0F172A"/>
                </a:solidFill>
                <a:latin typeface="Arial"/>
              </a:rPr>
              <a:t>Mengelola struktur array multidimensi secara efisien untuk transformasi koordinat, normalisasi vektor 63 fitur terhadap wrist, serta penyelesaian trigonometri matriks kinematika (Harris et al., 2020).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Komunikasi Perangkat Keras: </a:t>
            </a:r>
            <a:r>
              <a:rPr sz="1080">
                <a:solidFill>
                  <a:srgbClr val="0F172A"/>
                </a:solidFill>
                <a:latin typeface="Arial"/>
              </a:rPr>
              <a:t>Integrasi PySerial dan pydobotplus menjamin pengiriman paket sudut/koordinat bebas packet loss ke mikrokontroler robot.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LANDASAN TEORI (2/3): EKSTRAKSI GEOMETRI, MEDIAPIPE, &amp; SIBI DNN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Mencakup Sub-Bab 3.3 Ekstraksi Fitur Geometris, Sub-Bab 3.5 MediaPipe Hand Tracking, dan Sub-Bab 3.4 SIBI Berbasis DNN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5778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5778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3.3 Ekstraksi Geometri &amp; 3.5 MediaPipe Hand Tracking</a:t>
            </a:r>
          </a:p>
        </p:txBody>
      </p:sp>
      <p:pic>
        <p:nvPicPr>
          <p:cNvPr id="11" name="Picture 10" descr="Gambar3_2_mediapipe_land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11" y="1847088"/>
            <a:ext cx="4668377" cy="16184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3483863"/>
            <a:ext cx="526694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3.2 Topologi 21 Titik Persendian Tangan (Hand Landmarks) MediaPipe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67328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Efisiensi Landmark vs Piksel Mentah (Sub-Bab 3.3): </a:t>
            </a:r>
            <a:r>
              <a:rPr sz="1019">
                <a:solidFill>
                  <a:srgbClr val="0F172A"/>
                </a:solidFill>
                <a:latin typeface="Arial"/>
              </a:rPr>
              <a:t>Mereduksi matriks citra RGB menjadi vektor numerik 1D (dense feature vector) persendian tangan agar ringan bagi SBC (Rautaray &amp; Agrawal, 2015; Zhang et al., 2020).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Arsitektur 2 Tahap MediaPipe (Sub-Bab 3.5): </a:t>
            </a:r>
            <a:r>
              <a:rPr sz="1019">
                <a:solidFill>
                  <a:srgbClr val="0F172A"/>
                </a:solidFill>
                <a:latin typeface="Arial"/>
              </a:rPr>
              <a:t>(1) Palm Detector melokalisasi bounding box telapak tangan; (2) Hand Landmark memprediksi 21 titik 3D (x,y,z) dari 0: WRIST (origin) s.d. 20: PINKY_TIP = 63 fitur skalar (Lugaresi et al., 2019; Zhang et al., 2020).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579416"/>
            <a:ext cx="5340096" cy="600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q_norm_lan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15992"/>
            <a:ext cx="5266944" cy="52719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99632" y="1371600"/>
            <a:ext cx="55778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371600"/>
            <a:ext cx="55778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3.4 Pengenalan SIBI Berbasis Deep Neural Networks (DNN)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47088"/>
            <a:ext cx="52669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Karakteristik Daktilologi SIBI: </a:t>
            </a:r>
            <a:r>
              <a:rPr sz="1080">
                <a:solidFill>
                  <a:srgbClr val="0F172A"/>
                </a:solidFill>
                <a:latin typeface="Arial"/>
              </a:rPr>
              <a:t>Sistem Isyarat Bahasa Indonesia (SIBI) memanfaatkan artikulasi jari-jemari dan orientasi telapak tangan spesifik untuk merepresentasikan 26 abjad alfabet A–Z (Kosasih, 2012).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Pustaka Instruksi Kendali Diskret: </a:t>
            </a:r>
            <a:r>
              <a:rPr sz="1080">
                <a:solidFill>
                  <a:srgbClr val="0F172A"/>
                </a:solidFill>
                <a:latin typeface="Arial"/>
              </a:rPr>
              <a:t>Variabilitas formasi jari dijadikan pustaka perintah mandiri (command library) dengan pemetaan satu-ke-satu (one-to-one mapping) terhadap aksi titik kerja dan gripper robot meArm.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Keunggulan DNN Vektor 63 Fitur vs CNN: </a:t>
            </a:r>
            <a:r>
              <a:rPr sz="1080">
                <a:solidFill>
                  <a:srgbClr val="0F172A"/>
                </a:solidFill>
                <a:latin typeface="Arial"/>
              </a:rPr>
              <a:t>Tanpa operasi konvolusi citra CNN yang berat, vektor 63 skalar (x,y,z) diumpankan maju (feed-forward) ke jaringan DNN fully-connected berlapis tersembunyi non-linear (Goodfellow et al., 2016).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F59E0B"/>
                </a:solidFill>
                <a:latin typeface="Arial"/>
              </a:rPr>
              <a:t>• </a:t>
            </a:r>
            <a:r>
              <a:rPr sz="1080" b="1">
                <a:solidFill>
                  <a:srgbClr val="1E3A8A"/>
                </a:solidFill>
                <a:latin typeface="Arial"/>
              </a:rPr>
              <a:t>Klasifikasi Probabilitas Softmax: </a:t>
            </a:r>
            <a:r>
              <a:rPr sz="1080">
                <a:solidFill>
                  <a:srgbClr val="0F172A"/>
                </a:solidFill>
                <a:latin typeface="Arial"/>
              </a:rPr>
              <a:t>Lapisan akhir DNN memprediksi probabilitas tertinggi dari 26 kelas abjad dengan ambang keyakinan (confidence score &gt; 0,80) sebelum instruksi dikirim ke aktuator.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5466865"/>
            <a:ext cx="5340096" cy="7340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q_dnn_softm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503441"/>
            <a:ext cx="5266944" cy="660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LANDASAN TEORI (3/3): KINEMATIKA 4-DOF &amp; PERANGKAT KERAS MANIPULATOR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Mencakup Sub-Bab 3.6.1 Forward Kinematics (Pers. 3.1–3.3), 3.6.2 Inverse Kinematics (Pers. 3.4–3.8), &amp; 3.6.3 Dobot vs meArm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8064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8064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3.6.1 Forward &amp; 3.6.2 Inverse Kinematics 4-DOF (Craig, 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Kinematika Maju (Pers. 3.1–3.3): </a:t>
            </a:r>
            <a:r>
              <a:rPr sz="980">
                <a:solidFill>
                  <a:srgbClr val="0F172A"/>
                </a:solidFill>
                <a:latin typeface="Arial"/>
              </a:rPr>
              <a:t>Menghitung posisi Cartesian (X,Y,Z) &amp; pitch (phi) dari sudut sendi (theta_1..theta_4) dengan panjang tautan L1, L2, L3 &amp; tinggi basis d1 (Lynch &amp; Park, 2017).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Kinematika Balikan (Pers. 3.4–3.8): </a:t>
            </a:r>
            <a:r>
              <a:rPr sz="980">
                <a:solidFill>
                  <a:srgbClr val="0F172A"/>
                </a:solidFill>
                <a:latin typeface="Arial"/>
              </a:rPr>
              <a:t>Menghitung sudut sendi (theta_1..theta_4) dari target (X,Y,Z) via wrist center (rw, zw) dan Hukum Kosinus (Craig, 2018).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3" y="2745855"/>
            <a:ext cx="5605272" cy="954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_3_1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2431"/>
            <a:ext cx="5532120" cy="8816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12063" y="3998180"/>
            <a:ext cx="5605272" cy="10104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q_3_2_ik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34756"/>
            <a:ext cx="5532120" cy="93732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12063" y="5272558"/>
            <a:ext cx="5605272" cy="9306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3_3_ik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09134"/>
            <a:ext cx="5532120" cy="8574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82512" y="1371600"/>
            <a:ext cx="53949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1371600"/>
            <a:ext cx="539496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3.6.3 Implementasi Perangkat Keras 4-DOF: Dobot &amp; meArm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4620" y="1810512"/>
            <a:ext cx="2474976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ambar3_3_dobot_magici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196" y="1847088"/>
            <a:ext cx="2401824" cy="1801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10528" y="3666744"/>
            <a:ext cx="24231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3.3 Dobot Magician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2224278"/>
            <a:ext cx="1371600" cy="10469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ambar3_4a_mearm_dep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2260854"/>
            <a:ext cx="1298448" cy="9738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34272" y="3252978"/>
            <a:ext cx="1298448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3.4a Depan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2231136"/>
            <a:ext cx="1353312" cy="1033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ambar3_4b_mearm_samp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84" y="2267712"/>
            <a:ext cx="1280160" cy="960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87584" y="3246120"/>
            <a:ext cx="12801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3.4b Samping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005072"/>
            <a:ext cx="513892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30" b="1">
                <a:solidFill>
                  <a:srgbClr val="F59E0B"/>
                </a:solidFill>
                <a:latin typeface="Arial"/>
              </a:rPr>
              <a:t>• </a:t>
            </a:r>
            <a:r>
              <a:rPr sz="1030" b="1">
                <a:solidFill>
                  <a:srgbClr val="1E3A8A"/>
                </a:solidFill>
                <a:latin typeface="Arial"/>
              </a:rPr>
              <a:t>1. Dobot Magician (Mode Teleoperasi Kontinu): </a:t>
            </a:r>
            <a:r>
              <a:rPr sz="1030">
                <a:solidFill>
                  <a:srgbClr val="0F172A"/>
                </a:solidFill>
                <a:latin typeface="Arial"/>
              </a:rPr>
              <a:t>Manipulator edukasi-industri berpenggerak motor stepper presisi tinggi dengan efektor penyedot vakum (suction cup). Menyelesaikan Pers. (3.4)–(3.8) secara real-time untuk mereplikasi koordinat tangan operator (Dobot, 2022; Dobot, 2026).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30" b="1">
                <a:solidFill>
                  <a:srgbClr val="F59E0B"/>
                </a:solidFill>
                <a:latin typeface="Arial"/>
              </a:rPr>
              <a:t>• </a:t>
            </a:r>
            <a:r>
              <a:rPr sz="1030" b="1">
                <a:solidFill>
                  <a:srgbClr val="1E3A8A"/>
                </a:solidFill>
                <a:latin typeface="Arial"/>
              </a:rPr>
              <a:t>2. Purwarupa meArm 4-DOF (Mode Pengenalan SIBI): </a:t>
            </a:r>
            <a:r>
              <a:rPr sz="1030">
                <a:solidFill>
                  <a:srgbClr val="0F172A"/>
                </a:solidFill>
                <a:latin typeface="Arial"/>
              </a:rPr>
              <a:t>Manipulator berskala desktop berbahan akrilik yang digerakkan 4 motor servo standar untuk kendali diskret dari posisi home menuju koordinat kerja setelah abjad SIBI tervalidasi (MeArm Robotics, 2026).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METODE PENELITIAN (1/3): LOKASI, ALAT &amp; BAHAN, SERTA PERANCANGAN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68680"/>
            <a:ext cx="1136599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868680"/>
            <a:ext cx="11365992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TEMPAT DAN WAKTU PELAKSANAAN PENELITIAN (BAB 4.1 &amp; PROFIL MITRA BAB 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11109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rial"/>
              </a:defRPr>
            </a:pPr>
            <a:r>
              <a:t>Waktu: Januari – Februari 2026   |   Lokasi: Laboratorium Program Studi Teknologi Mekatronika, Politeknik Enjinering Indorama (PEI), Kembangkuning, Jatiluhur, Kabupaten Purwakarta, Jawa Barat.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28800"/>
            <a:ext cx="5715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1828800"/>
            <a:ext cx="571500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ALAT DAN BAHAN PENELITIAN (TABEL 4.1 NASKAH)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0352" y="2286000"/>
          <a:ext cx="5468111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822191"/>
                <a:gridCol w="1051560"/>
              </a:tblGrid>
              <a:tr h="441959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Alat dan Bahan (Perangkat Keras &amp; Lunak)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Jumlah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Laptop &amp; Single Board Computer Raspberry Pi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Masing-masing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Lengan Robot Dobot Magician &amp; Lengan Robot meArm (4-DOF)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Masing-masing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Kamera Web (Webcam) Logitech C270/HD (640x480 piksel, 30 FPS)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 buah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Monitor Raspberry Pi &amp; Adaptor Daya (Power Supply) RPi 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Masing-masing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Power Supply 5V DC Eksternal (catu daya terpisah servo meArm)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 buah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9–11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Breadboard, Kabel Jumper (M-M / M-F), &amp; Kabel USB Serial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 set lengkap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Lingkungan Pemrograman Utama: Software Python 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Lisensi Terbuka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Pustaka: OpenCV v4.9.0.80, MediaPipe v0.9.0.1, TensorFlow/Keras, NumPy v1.23.5, Protobuf v3.20.3, Pydobotplus, PySerial, Tkinter, PIL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Paket Lengkap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291072" y="182880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828800"/>
            <a:ext cx="548640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PERANCANGAN PERANGKAT KERAS &amp; ARSITEKTUR (BAB 4.3.2 &amp; 5.1)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1094" y="2249424"/>
            <a:ext cx="432635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mbar5_1_arsitektur_sistem_as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670" y="2286000"/>
            <a:ext cx="4253203" cy="23500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9088" y="4654296"/>
            <a:ext cx="5230368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5.1 Hasil Rancangan Arsitektur Sistem Tertanam Berbasis Raspberry Pi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956048"/>
            <a:ext cx="5230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Isolasi Catu Daya Ganda: </a:t>
            </a:r>
            <a:r>
              <a:rPr sz="980">
                <a:solidFill>
                  <a:srgbClr val="0F172A"/>
                </a:solidFill>
                <a:latin typeface="Arial"/>
              </a:rPr>
              <a:t>Adaptor khusus menyuplai Raspberry Pi 5 (mencegah under-voltage), sedangkan PSU 5V DC terpisah menyuplai servo meArm guna mengeliminasi noise induksi motor.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Transmisi Serial Stabil: </a:t>
            </a:r>
            <a:r>
              <a:rPr sz="980">
                <a:solidFill>
                  <a:srgbClr val="0F172A"/>
                </a:solidFill>
                <a:latin typeface="Arial"/>
              </a:rPr>
              <a:t>Kabel USB Serial menghubungkan port USB RPi 5 ke kontroler internal Dobot Magician &amp; mikrokontroler servo meArm.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METODE PENELITIAN (2/3): DIAGRAM ALIR PENELITIAN &amp; PIRANTI LUNAK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Menampilkan Diagram Alir Tahapan Penelitian (Gambar 4.1) &amp; Alur Logika Piranti Lunak Mode SIBI vs Teleoperasi (Gambar 4.2)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416052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416052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DIAGRAM ALIR PENELITIAN (BAB 4.3)</a:t>
            </a:r>
          </a:p>
        </p:txBody>
      </p:sp>
      <p:pic>
        <p:nvPicPr>
          <p:cNvPr id="11" name="Picture 10" descr="Gambar4_1_diagram_alir_penelitian_as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2139"/>
            <a:ext cx="3886200" cy="378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31700"/>
            <a:ext cx="38862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4.1 Diagram Alir Tahapan Penelitian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371600"/>
            <a:ext cx="7068312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1371600"/>
            <a:ext cx="7068312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PERANCANGAN PIRANTI LUNAK: MODE SIBI &amp; TELEOPERASI (BAB 4.3.3)</a:t>
            </a:r>
          </a:p>
        </p:txBody>
      </p:sp>
      <p:pic>
        <p:nvPicPr>
          <p:cNvPr id="15" name="Picture 14" descr="Gambar4_2_diagram_alir_software_a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168695"/>
            <a:ext cx="6821424" cy="3508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8032" y="5695144"/>
            <a:ext cx="682142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4.2 Diagram Alir Piranti Lunak: (a) Mode SIBI meArm &amp; (b) Mode Teleoperasi Dobot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METODE PENELITIAN (3/3): SKEMA PEMETAAN SIBI &amp; PARAMETER TELEOPERASI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Konfigurasi Pemetaan Karakter SIBI pada meArm (Tabel 5.1) serta Kalibrasi Spasial &amp; Penapisan Jitter pada Dobot Magician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6235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62356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PEMETAAN ISYARAT SIBI KE MEARM (TABEL 5.1)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74519"/>
          <a:ext cx="5349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777240"/>
                <a:gridCol w="1965960"/>
                <a:gridCol w="2103120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Karakter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Klasifikasi Formasi Isyarat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 Kinematika meArm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'A'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Kepalan tangan, ibu jari tegak ke atas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Maju ke target posisi kerja XYZ(80, 0, 40)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'B'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Empat jari tegak rapat, ibu jari ditekuk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Rotasi basis ke posisi kerja XYZ(60, 60, 30)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'C'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Jari-jemari melengkung membentuk kurva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Menutup capit gripper (sudut servo 90 derajat)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'D'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Jari telunjuk tegak vertikal ke atas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Membuka capit gripper (sudut servo 180 derajat)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Empat jari menekuk rapat ke telapak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Kembali ke posisi parkir awal (Home Position)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02920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Validasi Confidence Score &gt; 0,80: </a:t>
            </a:r>
            <a:r>
              <a:rPr sz="1019">
                <a:solidFill>
                  <a:srgbClr val="0F172A"/>
                </a:solidFill>
                <a:latin typeface="Arial"/>
              </a:rPr>
              <a:t>Instruksi hanya dikirim melalui komunikasi serial apabila probabilitas keluaran Softmax DNN melampaui ambang batas 0,80.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Smooth Stepping Firmware: </a:t>
            </a:r>
            <a:r>
              <a:rPr sz="1019">
                <a:solidFill>
                  <a:srgbClr val="0F172A"/>
                </a:solidFill>
                <a:latin typeface="Arial"/>
              </a:rPr>
              <a:t>Pergerakan motor servo diatur dengan jeda bertahap agar transisi koordinat bebas hentakan mekanis.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5778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55778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PARAMETER TELEOPERASI &amp; FILTER ANTI-JITTER DOBOT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47088"/>
            <a:ext cx="526694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Titik Acuan Pelacakan Spasial: </a:t>
            </a:r>
            <a:r>
              <a:rPr sz="1050">
                <a:solidFill>
                  <a:srgbClr val="0F172A"/>
                </a:solidFill>
                <a:latin typeface="Arial"/>
              </a:rPr>
              <a:t>Memetakan pergeseran koordinat titik pergelangan (WRIST, indeks 0) dan ujung telunjuk (INDEX_FINGER_TIP, indeks 8) ke ruang kerja fisik Dobot Magician.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Pemetaan 3 Sumbu &amp; Efektor Vakum: </a:t>
            </a:r>
            <a:r>
              <a:rPr sz="1050">
                <a:solidFill>
                  <a:srgbClr val="0F172A"/>
                </a:solidFill>
                <a:latin typeface="Arial"/>
              </a:rPr>
              <a:t>Gerak horizontal citra -&gt; Sumbu Y (kiri/kanan); gerak vertikal citra -&gt; Sumbu Z (naik/turun); skala kedalaman tangan -&gt; Sumbu X (maju); jarak jepit ibu jari–telunjuk &lt; 30 piksel -&gt; Suction Cup 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Filter Exponential Smoothing (alpha = 0,2): </a:t>
            </a:r>
            <a:r>
              <a:rPr sz="1050">
                <a:solidFill>
                  <a:srgbClr val="0F172A"/>
                </a:solidFill>
                <a:latin typeface="Arial"/>
              </a:rPr>
              <a:t>Meredam fluktuasi koordinat frekuensi tinggi dari sensor kamera sebelum dihitung melalui persamaan Inverse Kinematics.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Ambang Pergeseran (Deadband 5,0 mm): </a:t>
            </a:r>
            <a:r>
              <a:rPr sz="1050">
                <a:solidFill>
                  <a:srgbClr val="0F172A"/>
                </a:solidFill>
                <a:latin typeface="Arial"/>
              </a:rPr>
              <a:t>Perintah Point-to-Point (PTP) via pydobotplus &amp; PySerial hanya dieksekusi jika selisih jarak target melampaui 5,0 mm, mengeliminasi getaran mikro (jitter).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5455453"/>
            <a:ext cx="5340096" cy="6836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ema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492029"/>
            <a:ext cx="5266944" cy="6105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HASIL DAN PEMBAHASAN (1/5): PELATIHAN &amp; VALIDASI MODEL DNN SIBI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Model DNN 63 fitur konvergen stabil pada 100 epoch (Training Acc 96,0%–98,5%, Validation Acc 98,0%–100,0%, Loss &lt; 0,10) tanpa overfitting.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8064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8064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KURVA EVALUASI PELATIHAN MODEL DNN (SESI 25 JANUARI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" y="1933956"/>
            <a:ext cx="2816352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bar5_2a_akurasi_si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70532"/>
            <a:ext cx="27432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0352" y="3817620"/>
            <a:ext cx="27432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5.2(a) Accuracy vs Epoch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1933956"/>
            <a:ext cx="2816352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mbar5_2b_loss_si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970532"/>
            <a:ext cx="27432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64992" y="3817620"/>
            <a:ext cx="27432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5.2(b) Loss vs Epoch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5559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Lonjakan Konvergensi Cepat: </a:t>
            </a:r>
            <a:r>
              <a:rPr sz="1019">
                <a:solidFill>
                  <a:srgbClr val="0F172A"/>
                </a:solidFill>
                <a:latin typeface="Arial"/>
              </a:rPr>
              <a:t>Training Accuracy melonjak dari 21,3% ke &gt;90,0% pada 20 epoch pertama, lalu stabil di 96,0%–98,5% (Validation Accuracy 98,0%–100,0%).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Peluruhan Eksponensial Loss: </a:t>
            </a:r>
            <a:r>
              <a:rPr sz="1019">
                <a:solidFill>
                  <a:srgbClr val="0F172A"/>
                </a:solidFill>
                <a:latin typeface="Arial"/>
              </a:rPr>
              <a:t>Training &amp; Validation Loss meluruh tajam dari ~3,08 hingga menyusut di bawah 0,10 dengan kurva saling berimpit (bebas overfitting).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71600"/>
            <a:ext cx="5422392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371600"/>
            <a:ext cx="5422392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MATRIKS KEBINGUNGAN VALIDASI AWAL (106 SAMPEL UJI)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0213" y="1792224"/>
            <a:ext cx="4382981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ambar5_3_cm_valida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789" y="1828800"/>
            <a:ext cx="4309829" cy="30815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10528" y="4928616"/>
            <a:ext cx="5102352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5.3 Confusion Matrix Validasi Awal (106 Sampel, Off-Diagonal = 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5408611"/>
            <a:ext cx="5175504" cy="71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q_5_1_akuras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5445187"/>
            <a:ext cx="5102352" cy="640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HASIL DAN PEMBAHASAN (2/5): PENGUJIAN KLASIFIKASI SIBI REAL-TIME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Pengujian real-time pada Raspberry Pi 5 terhadap 520 data uji (26 abjad × 20 uji) mencapai akurasi 96,73% (503/520 benar; 22 abjad sempurna 100%).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6235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62356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CONFUSION MATRIX PENGUJIAN REAL-TIME (SESI 18 FEBRUARI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3" y="2453770"/>
            <a:ext cx="5422392" cy="29288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bar5_4_cm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0346"/>
            <a:ext cx="5349240" cy="28557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364349"/>
            <a:ext cx="5349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5.4 Confusion Matrix Real-Time SIBI (20 Percobaan per Abjad = 520 Sampel)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55778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5778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REKAPITULASI KINERJA PENGUJIAN SIBI (TABEL 5.2)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27648" y="1847088"/>
          <a:ext cx="532180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40280"/>
                <a:gridCol w="777240"/>
                <a:gridCol w="777240"/>
                <a:gridCol w="932688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Kelompok Isyarat Abjad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Uji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Benar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Akurasi (%)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Isyarat Perintah Utama (A–E)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Isyarat Sekunder (F–J)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92,00%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Isyarat Lanjutan 1 (K–R)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96,25%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Isyarat Lanjutan 2 (S–Z)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98,13%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Kinerja Keseluruhan (26 Abjad)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503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96,73%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27648" y="4279392"/>
            <a:ext cx="53218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Keunggulan Perintah Utama (A–E = 100,0%): </a:t>
            </a:r>
            <a:r>
              <a:rPr sz="1019">
                <a:solidFill>
                  <a:srgbClr val="0F172A"/>
                </a:solidFill>
                <a:latin typeface="Arial"/>
              </a:rPr>
              <a:t>Kelima abjad instruksi kendali robot meArm (A, B, C, D, E) dikenali 100% akurat tanpa satu pun kesalahan klasifikasi.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22 dari 26 Kelas Abjad Mencapai 100%: </a:t>
            </a:r>
            <a:r>
              <a:rPr sz="1019">
                <a:solidFill>
                  <a:srgbClr val="0F172A"/>
                </a:solidFill>
                <a:latin typeface="Arial"/>
              </a:rPr>
              <a:t>Normalisasi koordinat terhadap titik WRIST terbukti invarian terhadap pergeseran posisi tangan di depan kamera.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Analisis Galat Minor (J, M, N, Y): </a:t>
            </a:r>
            <a:r>
              <a:rPr sz="1019">
                <a:solidFill>
                  <a:srgbClr val="0F172A"/>
                </a:solidFill>
                <a:latin typeface="Arial"/>
              </a:rPr>
              <a:t>Deviasi terbatas pada huruf J (gestur dinamis), M &amp; N (kemiripan lipatan ibu jari tertutup 3 jari), serta Y (rotasi pergelangan).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HASIL DAN PEMBAHASAN (3/5): RESPONS KINEMATIS MANIPULATOR MEARM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Seluruh 5 perintah utama SIBI (A, B, C, D, E) berhasil dieksekusi 100% (5/5 Berhasil) menjadi gerakan translasi dan penjepitan objek pada meArm.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3492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3492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DOKUMENTASI PENGUJIAN RESPONS KINEMATIK MEARM (GAMBAR 5.5)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067" y="1792224"/>
            <a:ext cx="251206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bar5_5_uji_mearm_si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43" y="1828800"/>
            <a:ext cx="2438913" cy="2167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014215"/>
            <a:ext cx="507492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5.5 Pengujian Interaksi Langsung meArm Berbasis Deteksi Gestur SIBI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" y="4279392"/>
            <a:ext cx="23164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mbar6_12_pengujian_jangkauan_cap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4315968"/>
            <a:ext cx="2243328" cy="16824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016751"/>
            <a:ext cx="24688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6.12 Uji Jangkauan Capit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0880" y="4279392"/>
            <a:ext cx="23164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ambar6_13_pengujian_respons_gerak_sib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456" y="4315968"/>
            <a:ext cx="2243328" cy="16824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54680" y="6016751"/>
            <a:ext cx="24688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6.13 Respons Gerak SIBI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312" y="1371600"/>
            <a:ext cx="58521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25312" y="1371600"/>
            <a:ext cx="585216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HASIL PENGUJIAN RESPONS KINEMATIK MEARM (TABEL 5.3)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53328" y="1847088"/>
          <a:ext cx="5596128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58368"/>
                <a:gridCol w="1325880"/>
                <a:gridCol w="2286000"/>
                <a:gridCol w="868680"/>
              </a:tblGrid>
              <a:tr h="449580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Isyarat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Perintah Aksi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 Fisik Aktual meArm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'A'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Maju ke posisi kerja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Lengan bergerak maju ke XYZ(80, 0, 40)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Berhasil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'B'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Rotasi ke samping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Basis berputar ke koordinat XYZ(60, 60, 30)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Berhasil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'C'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Menutup gripper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Capit menutup rapat menjepit silinder uji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Berhasil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'D'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Membuka gripper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Capit membuka penuh melepas silinder uji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Berhasil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'E'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Kembali ke Home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Seluruh servo kembali ke posisi parkir awal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Berhasil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53328" y="4645152"/>
            <a:ext cx="5596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Kestabilan Gerak Servo (Smooth Stepping): </a:t>
            </a:r>
            <a:r>
              <a:rPr sz="1019">
                <a:solidFill>
                  <a:srgbClr val="0F172A"/>
                </a:solidFill>
                <a:latin typeface="Arial"/>
              </a:rPr>
              <a:t>Implementasi jeda bertahap pada firmware berhasil mencegah lonjakan torsi mendadak saat meArm bermanuver menjepit objek silinder.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19" b="1">
                <a:solidFill>
                  <a:srgbClr val="F59E0B"/>
                </a:solidFill>
                <a:latin typeface="Arial"/>
              </a:rPr>
              <a:t>• </a:t>
            </a:r>
            <a:r>
              <a:rPr sz="1019" b="1">
                <a:solidFill>
                  <a:srgbClr val="1E3A8A"/>
                </a:solidFill>
                <a:latin typeface="Arial"/>
              </a:rPr>
              <a:t>Evaluasi Batas Ruang Kerja Mekanis: </a:t>
            </a:r>
            <a:r>
              <a:rPr sz="1019">
                <a:solidFill>
                  <a:srgbClr val="0F172A"/>
                </a:solidFill>
                <a:latin typeface="Arial"/>
              </a:rPr>
              <a:t>Rentang kerja fisik purwarupa akrilik meArm memiliki batas jangkauan diagonal &lt;= 180 mm, sehingga waypoint dibatasi dalam zona aman.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HASIL DAN PEMBAHASAN (4/5): TELEOPERASI, PRESISI SPASIAL, &amp; LATENSI DOBOT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Pemetaan 6 arah spasial valid 100% (6/6), galat spasial Euclidean rata-rata 1,90 mm (terendah 1,28 mm), dan waktu respons 87,25 ms (near real-time).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6235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62356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EVALUASI PEMETAAN ARAH TELEOPERASI DOBOT (TABEL 5.4)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8132" y="1773936"/>
            <a:ext cx="1910254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bar5_6_uji_teleoperasi_d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708" y="1810512"/>
            <a:ext cx="1837102" cy="17739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3602736"/>
            <a:ext cx="53492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5.6 Pengujian Teleoperasi Dobot Magician via Hand Tracking MediaPipe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895344"/>
          <a:ext cx="534923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965960"/>
                <a:gridCol w="1874519"/>
                <a:gridCol w="1051560"/>
              </a:tblGrid>
              <a:tr h="337021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Arah Gerak Tangan Operator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 Dobot Magician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Geser Kanan (X &gt; 0,5)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Translasi sumbu Y+ (kanan)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Geser Kiri (X &lt; 0,5)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Translasi sumbu Y- (kiri)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Angkat Tangan (Y &lt; 0,5)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Translasi sumbu Z+ (naik)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Turun Tangan (Y &gt; 0,5)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Translasi sumbu Z- (turun)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Mendekati Kamera (Skala &gt; 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Jangkauan sumbu X+ (maju)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Jepit Telunjuk–Ibu Jari (&lt; 30 px)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Penyedot Vakum (Suction ON)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Sesuai (Valid)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199632" y="1371600"/>
            <a:ext cx="557784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1371600"/>
            <a:ext cx="55778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PRESISI SPASIAL &amp; WAKTU RESPONS DOBOT (TABEL 5.5)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1847088"/>
          <a:ext cx="532180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"/>
                <a:gridCol w="1481328"/>
                <a:gridCol w="1536192"/>
                <a:gridCol w="841248"/>
                <a:gridCol w="841248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(X, Y, Z) mm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Aktual Enkoder (mm)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Galat (mm)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 (ms)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(200,0; 0,0; 0,0)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(198,8; 0,4; -0,2)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(220,0; 50,0; 30,0)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(218,6; 49,2; 29,5)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1,68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(250,0; -60,0; 50,0)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(247,8; -58,7; 50,8)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2,68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(190,0; 80,0; -20,0)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(188,5; 78,9; -19,4)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Rerata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Evaluasi 4 Kuadran Kerja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Umpan Balik Enkoder Optik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1,90 mm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9" b="1">
                          <a:solidFill>
                            <a:srgbClr val="0F1E44"/>
                          </a:solidFill>
                          <a:latin typeface="Arial"/>
                        </a:defRPr>
                      </a:pPr>
                      <a:r>
                        <a:t>87,25 ms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91072" y="4282887"/>
            <a:ext cx="5394960" cy="633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q_5_2_euclid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319463"/>
            <a:ext cx="5321808" cy="5599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27648" y="5074920"/>
            <a:ext cx="53218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• </a:t>
            </a:r>
            <a:r>
              <a:rPr sz="1000" b="1">
                <a:solidFill>
                  <a:srgbClr val="1E3A8A"/>
                </a:solidFill>
                <a:latin typeface="Arial"/>
              </a:rPr>
              <a:t>Ketelitian Spasial Milimeter (1,90 mm): </a:t>
            </a:r>
            <a:r>
              <a:rPr sz="1000">
                <a:solidFill>
                  <a:srgbClr val="0F172A"/>
                </a:solidFill>
                <a:latin typeface="Arial"/>
              </a:rPr>
              <a:t>Selisih antara target algoritma dan pembacaan enkoder optik internal via pydobotplus sangat kecil (terendah 1,28 mm).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• </a:t>
            </a:r>
            <a:r>
              <a:rPr sz="1000" b="1">
                <a:solidFill>
                  <a:srgbClr val="1E3A8A"/>
                </a:solidFill>
                <a:latin typeface="Arial"/>
              </a:rPr>
              <a:t>Respons di Bawah Ambang Visual (&lt; 100 ms): </a:t>
            </a:r>
            <a:r>
              <a:rPr sz="1000">
                <a:solidFill>
                  <a:srgbClr val="0F172A"/>
                </a:solidFill>
                <a:latin typeface="Arial"/>
              </a:rPr>
              <a:t>Latensi rata-rata 87,25 ms memastikan replikasi gerak tangan terasa instan disertai penapisan jitter (alpha = 0,2).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HASIL DAN PEMBAHASAN (5/5): EVALUASI SISTEM KESELURUHAN &amp; VIDEO UJI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11365992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defRPr sz="1150" b="1">
                <a:solidFill>
                  <a:srgbClr val="0F1E44"/>
                </a:solidFill>
                <a:latin typeface="Arial"/>
              </a:defRPr>
            </a:pPr>
            <a:r>
              <a:t>Satu perangkat komputasi tepi Raspberry Pi 5 berhasil menjalankan kedua skenario kendali manipulator 4-DOF secara stabil pada 30 FPS.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11365992" cy="3090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11365992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RANGKUMAN KINERJA SISTEM KESELURUHAN (TABEL 5.6 NASKAH)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2880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547872"/>
                <a:gridCol w="3474720"/>
                <a:gridCol w="347472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 Kinerja Evaluasi Sistem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 Pengenalan SIBI (meArm 4-DOF)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 Teleoperasi (Dobot Magician 4-DOF)</a:t>
                      </a:r>
                    </a:p>
                  </a:txBody>
                  <a:tcPr anchor="ctr">
                    <a:solidFill>
                      <a:srgbClr val="0F1E44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Akurasi Klasifikasi Isyarat Visual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96,73% (503 / 520 Data Uji Valid; 22 Abjad 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 (Pelacakan Koordinat Spasial Kontinu)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Kesesuaian Pemetaan Arah Spasial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N/A (Kendali Diskret Waypoint)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 / 6 Arah Gerak &amp; Gestur Valid (100% Sinkron)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Galat Spasial Rata-rata (Euclidean 3D)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-- (Dibatasi Toleransi Servo Standar)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1,90 mm (Galat Terendah 1,28 mm)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Waktu Respons Rata-rata Sistem (Latensi)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87,25 ms (Responsif Near Real-Time &lt; 100 ms)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Keberhasilan Respons Perintah Kinematik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 / 5 Perintah Utama Berhasil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 / 4 Target Kuadran Posisi Berhasil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Stabilitas Pipeline Visi Raspberry Pi 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Stabil (30 FPS Lokal Tanpa Cloud)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Stabil (Bebas Jitter dengan Filter alpha = 0,2)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1480" y="4572000"/>
            <a:ext cx="7086600" cy="181051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4572000"/>
            <a:ext cx="7086600" cy="402336"/>
          </a:xfrm>
          <a:prstGeom prst="roundRect">
            <a:avLst/>
          </a:prstGeom>
          <a:solidFill>
            <a:srgbClr val="1E3A8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AKSES REPOSITORI &amp; REKAMAN VIDEO PENGUJIAN DARING (BAB 5.4.1)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10912"/>
            <a:ext cx="67665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E44"/>
                </a:solidFill>
                <a:latin typeface="Arial"/>
              </a:defRPr>
            </a:pPr>
            <a:r>
              <a:t>Tautan Google Drive: https://drive.google.com/drive/folders/1tkqb4tbg0jelGM6Wm1YSTbDkor_XJfIM?usp=sharing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Video 1 (Teleoperasi Dobot Magician): </a:t>
            </a:r>
            <a:r>
              <a:rPr sz="980">
                <a:solidFill>
                  <a:srgbClr val="0F172A"/>
                </a:solidFill>
                <a:latin typeface="Arial"/>
              </a:rPr>
              <a:t>Demonstrasi pelacakan tangan 3D real-time dan aktivasi vakum (suction cup) memindahkan objek kubus.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• </a:t>
            </a:r>
            <a:r>
              <a:rPr sz="980" b="1">
                <a:solidFill>
                  <a:srgbClr val="1E3A8A"/>
                </a:solidFill>
                <a:latin typeface="Arial"/>
              </a:rPr>
              <a:t>Video 2 (Pengenalan SIBI meArm): </a:t>
            </a:r>
            <a:r>
              <a:rPr sz="980">
                <a:solidFill>
                  <a:srgbClr val="0F172A"/>
                </a:solidFill>
                <a:latin typeface="Arial"/>
              </a:rPr>
              <a:t>Demonstrasi klasifikasi abjad SIBI di depan kamera dan eksekusi gerak servo meArm menjepit silinder.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8664" y="4558284"/>
            <a:ext cx="2084832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ambar6_15_stasiun_teleoperasi_dobo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94860"/>
            <a:ext cx="2011680" cy="1508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35240" y="6121908"/>
            <a:ext cx="20116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Stasiun Uji Dobot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9216" y="4558284"/>
            <a:ext cx="2084832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ambar6_9_integrasi_sistem_mea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4594860"/>
            <a:ext cx="2011680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65792" y="6121908"/>
            <a:ext cx="20116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Stasiun Uji meArm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KESIMPULAN DAN SARAN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96112"/>
            <a:ext cx="57150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896112"/>
            <a:ext cx="571500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KESIMPULAN PENELITIAN (BAB 6.1)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62456"/>
            <a:ext cx="49560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1E3A8A"/>
                </a:solidFill>
                <a:latin typeface="Arial"/>
              </a:defRPr>
            </a:pPr>
            <a:r>
              <a:t>Implementasi Visi Tertanam Raspberry Pi 5 Mandiri:</a:t>
            </a:r>
          </a:p>
          <a:p>
            <a:pPr>
              <a:lnSpc>
                <a:spcPct val="115000"/>
              </a:lnSpc>
              <a:defRPr sz="1019">
                <a:solidFill>
                  <a:srgbClr val="0F172A"/>
                </a:solidFill>
                <a:latin typeface="Arial"/>
              </a:defRPr>
            </a:pPr>
            <a:r>
              <a:t>Sistem tertanam berbasis Raspberry Pi 5 berhasil dirancang dan diimplementasikan sebagai pusat komputasi tepi (edge computer) yang mengintegrasikan kamera Logitech, MediaPipe, Python 3.9, serta dua manipulator 4-DOF (meArm &amp; Dobot Magician) secara lokal dan stabil (30 FPS) tanpa komputasi awan.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4952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90088"/>
            <a:ext cx="49560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1E3A8A"/>
                </a:solidFill>
                <a:latin typeface="Arial"/>
              </a:defRPr>
            </a:pPr>
            <a:r>
              <a:t>Akurasi Pengenalan SIBI 96,73% pada Manipulator meArm:</a:t>
            </a:r>
          </a:p>
          <a:p>
            <a:pPr>
              <a:lnSpc>
                <a:spcPct val="115000"/>
              </a:lnSpc>
              <a:defRPr sz="1019">
                <a:solidFill>
                  <a:srgbClr val="0F172A"/>
                </a:solidFill>
                <a:latin typeface="Arial"/>
              </a:defRPr>
            </a:pPr>
            <a:r>
              <a:t>Mode pengenalan SIBI pada meArm berhasil mengklasifikasikan 26 abjad dengan akurasi keseluruhan 96,73% (503 prediksi benar dari 520 percobaan). Model DNN berbasis 63 fitur koordinat spasial mengenali 22 dari 26 kelas abjad dengan akurasi sempurna (100,0%) dan mengeksekusi 5/5 perintah mekanis meArm.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72584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E44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9560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1E3A8A"/>
                </a:solidFill>
                <a:latin typeface="Arial"/>
              </a:defRPr>
            </a:pPr>
            <a:r>
              <a:t>Presisi 1,90 mm &amp; Respons 87,25 ms pada Teleoperasi Dobot:</a:t>
            </a:r>
          </a:p>
          <a:p>
            <a:pPr>
              <a:lnSpc>
                <a:spcPct val="115000"/>
              </a:lnSpc>
              <a:defRPr sz="1019">
                <a:solidFill>
                  <a:srgbClr val="0F172A"/>
                </a:solidFill>
                <a:latin typeface="Arial"/>
              </a:defRPr>
            </a:pPr>
            <a:r>
              <a:t>Mode teleoperasi Dobot Magician berhasil memetakan gerak tangan dengan kesesuaian 6/6 arah valid (100%), galat spasial rata-rata 1,90 mm (terendah 1,28 mm), dan waktu respons rata-rata 87,25 ms. Filter exponential smoothing (alpha = 0,2) dan ambang gerak 5,0 mm sukses mengeliminasi jitter.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896112"/>
            <a:ext cx="54864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896112"/>
            <a:ext cx="548640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SARAN PENGEMBANGAN LANJUTAN (BAB 6.2)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417320"/>
            <a:ext cx="51755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1. Variasi Dataset Multi-Pengguna: </a:t>
            </a:r>
            <a:r>
              <a:rPr sz="1050">
                <a:solidFill>
                  <a:srgbClr val="0F172A"/>
                </a:solidFill>
                <a:latin typeface="Arial"/>
              </a:rPr>
              <a:t>Menambah jumlah kelas dinamis dan variasi data SIBI dari berbagai ukuran tangan pengguna agar model lebih tangguh terhadap variasi anatomi.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2. Eksplorasi Algoritma Klasifikasi Ringan: </a:t>
            </a:r>
            <a:r>
              <a:rPr sz="1050">
                <a:solidFill>
                  <a:srgbClr val="0F172A"/>
                </a:solidFill>
                <a:latin typeface="Arial"/>
              </a:rPr>
              <a:t>Mengeksplorasi metode klasifikasi pembanding seperti Support Vector Machine (SVM), Random Forest, atau arsitektur jaringan saraf ringan pada Raspberry Pi 5.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3. Filter Temporal Lanjutan: </a:t>
            </a:r>
            <a:r>
              <a:rPr sz="1050">
                <a:solidFill>
                  <a:srgbClr val="0F172A"/>
                </a:solidFill>
                <a:latin typeface="Arial"/>
              </a:rPr>
              <a:t>Menambahkan filter temporal adaptif (seperti Kalman Filter / One-Euro Filter) pada sinyal landmark tangan agar pergerakan manipulator semakin halus.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4. Kalibrasi Ruang Kerja Multi-Kamera: </a:t>
            </a:r>
            <a:r>
              <a:rPr sz="1050">
                <a:solidFill>
                  <a:srgbClr val="0F172A"/>
                </a:solidFill>
                <a:latin typeface="Arial"/>
              </a:rPr>
              <a:t>Melakukan kalibrasi transformasi ruang kerja 3D yang lebih presisi antara bidang pandang kamera dan ruang kerja fisik Dobot Magician.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• </a:t>
            </a:r>
            <a:r>
              <a:rPr sz="1050" b="1">
                <a:solidFill>
                  <a:srgbClr val="1E3A8A"/>
                </a:solidFill>
                <a:latin typeface="Arial"/>
              </a:rPr>
              <a:t>5. Antarmuka Pencatatan Data Otomatis: </a:t>
            </a:r>
            <a:r>
              <a:rPr sz="1050">
                <a:solidFill>
                  <a:srgbClr val="0F172A"/>
                </a:solidFill>
                <a:latin typeface="Arial"/>
              </a:rPr>
              <a:t>Mengembangkan fitur GUI untuk pemilihan mode terpadu, pemantauan metrik real-time, serta penyimpanan log pengujian otomatis.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652760" cy="566928"/>
          </a:xfrm>
          <a:prstGeom prst="roundRect">
            <a:avLst/>
          </a:prstGeom>
          <a:solidFill>
            <a:srgbClr val="0F1E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77240"/>
          <a:lstStyle/>
          <a:p>
            <a:pPr algn="ctr">
              <a:lnSpc>
                <a:spcPct val="115000"/>
              </a:lnSpc>
              <a:defRPr sz="1700" b="1">
                <a:solidFill>
                  <a:srgbClr val="FFFFFF"/>
                </a:solidFill>
                <a:latin typeface="Arial"/>
              </a:defRPr>
            </a:pPr>
            <a:r>
              <a:t>DAFTAR PUSTAKA DAN LAMPIRAN DOKUMENTASI PENELITIAN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73968" y="201168"/>
            <a:ext cx="603504" cy="56692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F1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E44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Seminar Kerja Praktik | Fahry Rizky Samsudin (1237030018) | Fisika FST UIN Sunan Gunung Djati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3796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96112"/>
            <a:ext cx="580644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896112"/>
            <a:ext cx="5806440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DAFTAR PUSTAKA LENGKAP (18 REFERENSI NASKAH)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353312"/>
            <a:ext cx="5577840" cy="495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1. Craig, J. J. (2018). Introduction to Robotics: Mechanics and Control (4th ed.). Pearson.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2. DOBOT. (2022). Dobot Magician User Guide. Shenzhen Yuejiang Technology Co., Ltd.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3. DOBOT. (2026). Dobot Magician Desktop Robotic Arm Documentation and Specifications.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4. Goodfellow, I., Bengio, Y., &amp; Courville, A. (2016). Deep Learning. MIT Press.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5. Harris, C. R., et al. (2020). Array programming with NumPy. Nature, 585, 357–362.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6. Kosasih, E. (2012). Pendidikan Anak Tunarungu (Sistem Isyarat Bahasa Indonesia). Yrama Widya.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7. Li, E., Zeng, L., Zhou, Z., &amp; Chen, X. (2018). Deep learning for edge computing applications: A state-of-the-art survey. IEEE Access, 6, 58322–58336.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8. Lugaresi, C., et al. (2019). MediaPipe: A framework for building perception pipelines. arXiv:1906.08172.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9. Lynch, K. M., &amp; Park, F. C. (2017). Modern Robotics: Mechanics, Planning, and Control. Cambridge University Press.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10. MeArm Robotics. (2026). meArm Robot Arm Documentation.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11. Python Software Foundation. (2020). Python 3.9 Documentation.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12. Raspberry Pi Ltd. (2023). Raspberry Pi 5 Product Brief.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13. Rautaray, S. S., &amp; Agrawal, A. (2015). Vision based hand gesture recognition for human computer interaction: A survey. Artificial Intelligence Review, 43, 1–54.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14. Satyanarayanan, M. (2017). The emergence of edge computing. Computer, 50(1), 30–39.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15. Shi, W., Cao, J., Zhang, Q., Li, Y., &amp; Xu, L. (2016). Edge computing: Vision and challenges. IEEE Internet of Things Journal, 3(5), 637–646.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16. Szeliski, R. (2022). Computer Vision: Algorithms and Applications (2nd ed.). Springer.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17. Wang, X., et al. (2020). Convergence of edge computing and deep learning: A comprehensive survey. IEEE Communications Surveys &amp; Tutorials, 22(2), 869–904.</a:t>
            </a:r>
          </a:p>
          <a:p>
            <a:pPr>
              <a:spcAft>
                <a:spcPts val="180"/>
              </a:spcAft>
              <a:defRPr sz="800">
                <a:solidFill>
                  <a:srgbClr val="0F172A"/>
                </a:solidFill>
                <a:latin typeface="Arial"/>
              </a:defRPr>
            </a:pPr>
            <a:r>
              <a:t>18. Zhang, F., et al. (2020). MediaPipe Hands: On-device real-time hand tracking. arXiv:2006.10214.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896112"/>
            <a:ext cx="5422392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896112"/>
            <a:ext cx="5422392" cy="402336"/>
          </a:xfrm>
          <a:prstGeom prst="roundRect">
            <a:avLst/>
          </a:prstGeom>
          <a:solidFill>
            <a:srgbClr val="0F1E44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DOKUMENTASI IMPLEMENTASI &amp; PENGUJIAN (LAMPIRAN)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9044" y="135331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ambar6_1_mearm_tampak_dep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620" y="1389888"/>
            <a:ext cx="1731263" cy="12984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73952" y="270662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 Purwarupa meArm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0804" y="135331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mbar6_2_mearm_dan_mikrokontro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380" y="1389888"/>
            <a:ext cx="1731263" cy="12984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25712" y="270662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6.2 Integrasi Mikrokontroler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9044" y="299923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ambar6_5_perakitan_rangka_akrili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620" y="3035808"/>
            <a:ext cx="1731263" cy="12984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73952" y="435254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6.5 Perakitan Rangka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80804" y="299923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ambar6_10_pengujian_manuver_ik_sesi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7380" y="3035808"/>
            <a:ext cx="1731263" cy="12984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25712" y="435254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6.10 Uji Manuver IK meArm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29044" y="464515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ambar6_14_antarmuka_pelacakan_dob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620" y="4681728"/>
            <a:ext cx="1731263" cy="12984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73952" y="599846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6.14 Antarmuka Pelacakan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0804" y="4645152"/>
            <a:ext cx="180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ambar6_17_manipulator_dobot_suction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7380" y="4681728"/>
            <a:ext cx="1731263" cy="1298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25712" y="5998464"/>
            <a:ext cx="2514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Gambar 6.17 Dobot &amp; Suction Cup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g_k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logo_uin_fisika_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411480"/>
            <a:ext cx="2103120" cy="1051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71600" y="1783080"/>
            <a:ext cx="9448495" cy="3337560"/>
          </a:xfrm>
          <a:prstGeom prst="roundRect">
            <a:avLst/>
          </a:prstGeom>
          <a:solidFill>
            <a:srgbClr val="0F1E44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8899855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200" b="1">
                <a:solidFill>
                  <a:srgbClr val="F59E0B"/>
                </a:solidFill>
                <a:latin typeface="Arial"/>
              </a:defRPr>
            </a:pPr>
            <a:r>
              <a:t>TERIMA KASIH</a:t>
            </a:r>
          </a:p>
          <a:p>
            <a:pPr algn="ctr">
              <a:spcAft>
                <a:spcPts val="1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Mohon Arahan, Masukan, dan Saran pada Sesi Tanya Jawab Seminar Kerja Praktik</a:t>
            </a:r>
          </a:p>
          <a:p>
            <a:pPr algn="ctr">
              <a:lnSpc>
                <a:spcPct val="130000"/>
              </a:lnSpc>
              <a:defRPr sz="1150">
                <a:solidFill>
                  <a:srgbClr val="F1F5F9"/>
                </a:solidFill>
                <a:latin typeface="Arial"/>
              </a:defRPr>
            </a:pPr>
            <a:r>
              <a:t>Fahry Rizky Samsudin (NIM. 1237030018)</a:t>
            </a:r>
            <a:br/>
            <a:r>
              <a:t>Pembimbing I: Dr. Moch Nurul Subkhi, M.Si.  |  Pembimbing II: Dr. Emmanuel Agung N, S.T, M.T.</a:t>
            </a:r>
            <a:br/>
            <a:r>
              <a:t>Jurusan Fisika, Fakultas Sains dan Teknologi, UIN Sunan Gunung Djati Bandung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