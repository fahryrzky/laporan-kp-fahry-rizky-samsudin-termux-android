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8.jpg"/><Relationship Id="rId6" Type="http://schemas.openxmlformats.org/officeDocument/2006/relationships/image" Target="../media/image19.jpg"/><Relationship Id="rId7" Type="http://schemas.openxmlformats.org/officeDocument/2006/relationships/image" Target="../media/image20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i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02920"/>
            <a:ext cx="765777" cy="10972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31520" y="1783080"/>
            <a:ext cx="10728655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10180015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300" b="1">
                <a:solidFill>
                  <a:srgbClr val="0284C7"/>
                </a:solidFill>
                <a:latin typeface="Arial"/>
              </a:defRPr>
            </a:pPr>
            <a:r>
              <a:t>SEMINAR LAPORAN KERJA MANDIRI TERPANTAU (KP)</a:t>
            </a:r>
          </a:p>
          <a:p>
            <a:pPr algn="ctr">
              <a:defRPr sz="1750" b="1">
                <a:solidFill>
                  <a:srgbClr val="0F172A"/>
                </a:solidFill>
                <a:latin typeface="Arial"/>
              </a:defRPr>
            </a:pPr>
            <a:r>
              <a:t>RANCANG BANGUN SISTEM VISI KOMPUTER TERTANAM BERBASIS RASPBERRY PI 5 UNTUK KENDALI ROBOT 4-DOF: TELEOPERASI DOBOT MAGICIAN DAN PENGENALAN SIBI PADA MEARM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297680"/>
            <a:ext cx="521208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PENELITI / PRAKTIKAN:</a:t>
            </a:r>
          </a:p>
          <a:p>
            <a:pPr>
              <a:defRPr sz="1500" b="1">
                <a:solidFill>
                  <a:srgbClr val="0F172A"/>
                </a:solidFill>
              </a:defRPr>
            </a:pPr>
            <a:r>
              <a:t>FAHRY RIZKY SAMSUDIN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NIM: 1237030018</a:t>
            </a:r>
            <a:br/>
            <a:r>
              <a:t>Jurusan Fisika, Fakultas Sains dan Teknologi</a:t>
            </a:r>
            <a:br/>
            <a:r>
              <a:t>UIN Sunan Gunung Djati Bandung (Tahun 2026)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297680"/>
            <a:ext cx="5242255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443484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DOSEN &amp; INSTRUKTUR PEMBIMBING: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Pembimbing I: Dr. Moch Nurul Subkhi, M.Si.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NIP: 19810201 200912 1003 (UIN SGD Bandung)</a:t>
            </a:r>
            <a:br/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Pembimbing II: Dr. Emmanuel Agung N, S.T, M.T.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NIDN: 0407047801 (Politeknik Enjinering Indorama)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BAB I: PENDAHULUAN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Latar Belakang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8686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Laporan KP | Fahry Rizky Samsudin (1237030018) | Fisika FST UIN SGD Bandung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510528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E3A8A"/>
                </a:solidFill>
                <a:latin typeface="Arial"/>
              </a:defRPr>
            </a:pPr>
            <a:r>
              <a:t>2 / 24</a:t>
            </a:r>
          </a:p>
        </p:txBody>
      </p:sp>
      <p:pic>
        <p:nvPicPr>
          <p:cNvPr id="9" name="Picture 8" descr="Gambar1_1_latar_belakang_flowchart_as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28655" cy="823583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BAB I: PENDAHULUAN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Rumusan Masalah &amp; Batasan Masalah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8686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Laporan KP | Fahry Rizky Samsudin (1237030018) | Fisika FST UIN SGD Bandung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510528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E3A8A"/>
                </a:solidFill>
                <a:latin typeface="Arial"/>
              </a:defRPr>
            </a:pPr>
            <a:r>
              <a:t>3 /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34440"/>
            <a:ext cx="521208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1E3A8A"/>
                </a:solidFill>
              </a:defRPr>
            </a:pPr>
            <a:r>
              <a:t>RUMUSAN MASALAH PENELITIAN</a:t>
            </a:r>
          </a:p>
          <a:p>
            <a:pPr>
              <a:defRPr sz="1150" b="1">
                <a:solidFill>
                  <a:srgbClr val="0284C7"/>
                </a:solidFill>
              </a:defRPr>
            </a:pPr>
            <a:r>
              <a:t>1. Perancangan Sistem Visi Tertanam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Bagaimana merancang dan mengimplementasikan sistem visi komputer tertanam (embedded computer vision) menggunakan Raspberry Pi 5 untuk kendali lengan robot 4-DOF?</a:t>
            </a:r>
          </a:p>
          <a:p>
            <a:pPr>
              <a:defRPr sz="1150" b="1">
                <a:solidFill>
                  <a:srgbClr val="0284C7"/>
                </a:solidFill>
              </a:defRPr>
            </a:pPr>
            <a:r>
              <a:t>2. Penerjemahan SIBI ke Kendali meArm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Bagaimana menerjemahkan sistem pengenalan Sistem Isyarat Bahasa Indonesia (SIBI) menjadi sinyal kendali mekanik pada lengan robot meArm?</a:t>
            </a:r>
          </a:p>
          <a:p>
            <a:pPr>
              <a:defRPr sz="1150" b="1">
                <a:solidFill>
                  <a:srgbClr val="0284C7"/>
                </a:solidFill>
              </a:defRPr>
            </a:pPr>
            <a:r>
              <a:t>3. Pemetaan Spasial Teleoperasi Dobot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Bagaimana memetakan ekstraksi hand landmark dari MediaPipe menjadi pergerakan teleoperasi yang kontinu berdasarkan sistem koordinat spasial (X,Y,Z) pada lengan robot Dobot Magician?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34440"/>
            <a:ext cx="5242255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371600"/>
            <a:ext cx="487649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1E3A8A"/>
                </a:solidFill>
              </a:defRPr>
            </a:pPr>
            <a:r>
              <a:t>BATASAN MASALAH PENELITIAN</a:t>
            </a:r>
          </a:p>
          <a:p>
            <a:pPr>
              <a:spcAft>
                <a:spcPts val="700"/>
              </a:spcAft>
              <a:defRPr sz="1050">
                <a:solidFill>
                  <a:srgbClr val="0F172A"/>
                </a:solidFill>
              </a:defRPr>
            </a:pPr>
            <a:r>
              <a:t>1. Pusat komputasi: Raspberry Pi 5 sebagai edge computer lokal mandiri tanpa komputasi awan (cloud computing).</a:t>
            </a:r>
          </a:p>
          <a:p>
            <a:pPr>
              <a:spcAft>
                <a:spcPts val="700"/>
              </a:spcAft>
              <a:defRPr sz="1050">
                <a:solidFill>
                  <a:srgbClr val="0F172A"/>
                </a:solidFill>
              </a:defRPr>
            </a:pPr>
            <a:r>
              <a:t>2. Bahasa pemrograman: Python 3.9 untuk antarmuka visi komputer dan kalkulasi kinematika spasial.</a:t>
            </a:r>
          </a:p>
          <a:p>
            <a:pPr>
              <a:spcAft>
                <a:spcPts val="700"/>
              </a:spcAft>
              <a:defRPr sz="1050">
                <a:solidFill>
                  <a:srgbClr val="0F172A"/>
                </a:solidFill>
              </a:defRPr>
            </a:pPr>
            <a:r>
              <a:t>3. Perangkat mekanik: dua lengan robot 4-DOF (purwarupa meArm untuk mode SIBI dan Dobot Magician untuk mode teleoperasi).</a:t>
            </a:r>
          </a:p>
          <a:p>
            <a:pPr>
              <a:spcAft>
                <a:spcPts val="700"/>
              </a:spcAft>
              <a:defRPr sz="1050">
                <a:solidFill>
                  <a:srgbClr val="0F172A"/>
                </a:solidFill>
              </a:defRPr>
            </a:pPr>
            <a:r>
              <a:t>4. Kerangka kerja visi komputer: MediaPipe Hands untuk ekstraksi 21 hand landmarks tiga dimensi.</a:t>
            </a:r>
          </a:p>
          <a:p>
            <a:pPr>
              <a:spcAft>
                <a:spcPts val="700"/>
              </a:spcAft>
              <a:defRPr sz="1050">
                <a:solidFill>
                  <a:srgbClr val="0F172A"/>
                </a:solidFill>
              </a:defRPr>
            </a:pPr>
            <a:r>
              <a:t>5. Algoritma pergerakan: penyelesaian persamaan Inverse dan Forward Kinematics dalam sistem koordinat Cartesian (X,Y,Z).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BAB I: PENDAHULUAN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Tujuan, Manfaat, serta Waktu &amp; Tempat Penelitian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8686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Laporan KP | Fahry Rizky Samsudin (1237030018) | Fisika FST UIN SGD Bandung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510528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E3A8A"/>
                </a:solidFill>
                <a:latin typeface="Arial"/>
              </a:defRPr>
            </a:pPr>
            <a:r>
              <a:t>4 /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34440"/>
            <a:ext cx="521208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1E3A8A"/>
                </a:solidFill>
              </a:defRPr>
            </a:pPr>
            <a:r>
              <a:t>TUJUAN PENELITIAN</a:t>
            </a:r>
          </a:p>
          <a:p>
            <a:pPr>
              <a:defRPr sz="1150" b="1">
                <a:solidFill>
                  <a:srgbClr val="059669"/>
                </a:solidFill>
              </a:defRPr>
            </a:pPr>
            <a:r>
              <a:t>1. Rancang Bangun Sistem Antarmuka Nirsentuh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Merancang bangun sistem antarmuka nirsentuh (contactless) untuk mengontrol manipulator robot 4-DOF melalui pemanfaatan visi komputer berbasis sistem tertanam Raspberry Pi 5.</a:t>
            </a:r>
          </a:p>
          <a:p>
            <a:pPr>
              <a:defRPr sz="1150" b="1">
                <a:solidFill>
                  <a:srgbClr val="059669"/>
                </a:solidFill>
              </a:defRPr>
            </a:pPr>
            <a:r>
              <a:t>2. Integrasi Pengenalan SIBI pada meArm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Menguji dan menganalisis tingkat keberhasilan integrasi pengenalan SIBI sebagai metode instruksi kendali diskret pada manipulator meArm.</a:t>
            </a:r>
          </a:p>
          <a:p>
            <a:pPr>
              <a:defRPr sz="1150" b="1">
                <a:solidFill>
                  <a:srgbClr val="059669"/>
                </a:solidFill>
              </a:defRPr>
            </a:pPr>
            <a:r>
              <a:t>3. Evaluasi Teleoperasi Dinamis Dobot Magician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Mengimplementasikan dan mengevaluasi respons kinematis Dobot Magician saat dikendalikan secara real-time melalui sistem teleoperasi pelacakan tangan (hand tracking).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34440"/>
            <a:ext cx="5242255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371600"/>
            <a:ext cx="487649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1E3A8A"/>
                </a:solidFill>
              </a:defRPr>
            </a:pPr>
            <a:r>
              <a:t>WAKTU, TEMPAT &amp; MANFAAT RISET</a:t>
            </a:r>
          </a:p>
          <a:p>
            <a:pPr>
              <a:defRPr sz="1100" b="1">
                <a:solidFill>
                  <a:srgbClr val="0284C7"/>
                </a:solidFill>
              </a:defRPr>
            </a:pPr>
            <a:r>
              <a:t>Tempat Pelaksanaan:</a:t>
            </a:r>
          </a:p>
          <a:p>
            <a:pPr>
              <a:spcAft>
                <a:spcPts val="700"/>
              </a:spcAft>
              <a:defRPr sz="1050">
                <a:solidFill>
                  <a:srgbClr val="0F172A"/>
                </a:solidFill>
              </a:defRPr>
            </a:pPr>
            <a:r>
              <a:t>Laboratorium Program Studi Teknologi Mekatronika, Politeknik Enjinering Indorama (PEI), Kabupaten Purwakarta, Jawa Barat.</a:t>
            </a:r>
          </a:p>
          <a:p>
            <a:pPr>
              <a:defRPr sz="1100" b="1">
                <a:solidFill>
                  <a:srgbClr val="0284C7"/>
                </a:solidFill>
              </a:defRPr>
            </a:pPr>
            <a:r>
              <a:t>Waktu Pelaksanaan:</a:t>
            </a:r>
          </a:p>
          <a:p>
            <a:pPr>
              <a:spcAft>
                <a:spcPts val="700"/>
              </a:spcAft>
              <a:defRPr sz="1050">
                <a:solidFill>
                  <a:srgbClr val="0F172A"/>
                </a:solidFill>
              </a:defRPr>
            </a:pPr>
            <a:r>
              <a:t>Bulan Januari hingga Februari 2026 (periode magang terpadu 8 minggu).</a:t>
            </a:r>
          </a:p>
          <a:p>
            <a:pPr>
              <a:defRPr sz="1100" b="1">
                <a:solidFill>
                  <a:srgbClr val="0284C7"/>
                </a:solidFill>
              </a:defRPr>
            </a:pPr>
            <a:r>
              <a:t>Manfaat Teoretis:</a:t>
            </a:r>
          </a:p>
          <a:p>
            <a:pPr>
              <a:spcAft>
                <a:spcPts val="700"/>
              </a:spcAft>
              <a:defRPr sz="1050">
                <a:solidFill>
                  <a:srgbClr val="0F172A"/>
                </a:solidFill>
              </a:defRPr>
            </a:pPr>
            <a:r>
              <a:t>Menyajikan rujukan ilmiah integrasi visi komputer tepi, reduksi fitur geometris, dan pemodelan kinematika manipulator 4-DOF secara lokal.</a:t>
            </a:r>
          </a:p>
          <a:p>
            <a:pPr>
              <a:defRPr sz="1100" b="1">
                <a:solidFill>
                  <a:srgbClr val="0284C7"/>
                </a:solidFill>
              </a:defRPr>
            </a:pPr>
            <a:r>
              <a:t>Manfaat Praktis:</a:t>
            </a:r>
          </a:p>
          <a:p>
            <a:pPr>
              <a:spcAft>
                <a:spcPts val="700"/>
              </a:spcAft>
              <a:defRPr sz="1050">
                <a:solidFill>
                  <a:srgbClr val="0F172A"/>
                </a:solidFill>
              </a:defRPr>
            </a:pPr>
            <a:r>
              <a:t>Menyediakan sistem purwarupa robotika nirsentuh yang portabel, hemat daya, ramah disabilitas (SIBI), dan siap direplikasi untuk pembelajaran edukasi.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BAB II: PROFIL INDUSTRI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Profil Mitra: Politeknik Enjinering Indorama (PEI)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8686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Laporan KP | Fahry Rizky Samsudin (1237030018) | Fisika FST UIN SGD Bandung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510528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E3A8A"/>
                </a:solidFill>
                <a:latin typeface="Arial"/>
              </a:defRPr>
            </a:pPr>
            <a:r>
              <a:t>5 /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34440"/>
            <a:ext cx="521208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1E3A8A"/>
                </a:solidFill>
              </a:defRPr>
            </a:pPr>
            <a:r>
              <a:t>PROFIL POLITEKNIK ENJINERING INDORAMA</a:t>
            </a:r>
          </a:p>
          <a:p>
            <a:pPr>
              <a:defRPr sz="1100" b="1">
                <a:solidFill>
                  <a:srgbClr val="0284C7"/>
                </a:solidFill>
              </a:defRPr>
            </a:pPr>
            <a:r>
              <a:t>Afiliasi Korporasi &amp; Sejarah: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Didirikan melalui Yayasan Pendidikan Indorama oleh PT Indo-Rama Synthetics Tbk (produsen poliester global terkemuka sejak 1976 di Purwakarta) sebagai kampus eco-campus seluas 6 hektar.</a:t>
            </a:r>
          </a:p>
          <a:p>
            <a:pPr>
              <a:defRPr sz="1100" b="1">
                <a:solidFill>
                  <a:srgbClr val="0284C7"/>
                </a:solidFill>
              </a:defRPr>
            </a:pPr>
            <a:r>
              <a:t>Visi Institusi: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"Menjadi Politeknik Kelas Dunia dengan Memberikan Pendidikan Berkualitas dan Pengalaman Praktis di Industri untuk Menghasilkan Lulusan Siap Kerja."</a:t>
            </a:r>
          </a:p>
          <a:p>
            <a:pPr>
              <a:defRPr sz="1100" b="1">
                <a:solidFill>
                  <a:srgbClr val="0284C7"/>
                </a:solidFill>
              </a:defRPr>
            </a:pPr>
            <a:r>
              <a:t>Program Studi Penaung: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Teknologi Mekatronika (Sarjana Terapan) - mengintegrasikan teknik mesin, elektronika daya, kendali otomatis, dan perangkat lunak industri.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34440"/>
            <a:ext cx="5242255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371600"/>
            <a:ext cx="487649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1E3A8A"/>
                </a:solidFill>
              </a:defRPr>
            </a:pPr>
            <a:r>
              <a:t>ROADMAP RISET MEKATRONIKA &amp; PEMBIMBING</a:t>
            </a:r>
          </a:p>
          <a:p>
            <a:pPr>
              <a:defRPr sz="1100" b="1">
                <a:solidFill>
                  <a:srgbClr val="059669"/>
                </a:solidFill>
              </a:defRPr>
            </a:pPr>
            <a:r>
              <a:t>Pilar Roadmap Riset Terapan PEI: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1. Kurikulum Vokasi Terapan berbasis Standar Industri Global (SN-Dikti).</a:t>
            </a:r>
            <a:br/>
            <a:r>
              <a:t>2. Riset terapan otomasi manufaktur &amp; robotika melalui LPPM PEI.</a:t>
            </a:r>
            <a:br/>
            <a:r>
              <a:t>3. Hilirisasi prototipe mekatronika ramah guna masyarakat dan industri.</a:t>
            </a:r>
          </a:p>
          <a:p>
            <a:pPr>
              <a:defRPr sz="1100" b="1">
                <a:solidFill>
                  <a:srgbClr val="059669"/>
                </a:solidFill>
              </a:defRPr>
            </a:pPr>
            <a:r>
              <a:t>Fasilitas Laboratorium Mekatronika: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Dilengkapi stasiun kerja Dobot Magician, instrumentasi sensorik, mikrokomputer embedded, serta fasilitas manufaktur akrilik untuk perakitan robot manipulator.</a:t>
            </a:r>
          </a:p>
          <a:p>
            <a:pPr>
              <a:defRPr sz="1100" b="1">
                <a:solidFill>
                  <a:srgbClr val="059669"/>
                </a:solidFill>
              </a:defRPr>
            </a:pPr>
            <a:r>
              <a:t>Instruktur Pembimbing Lapangan: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Dr. Emmanuel Agung N, S.T, M.T. (NIDN 0407047801)</a:t>
            </a:r>
            <a:br/>
            <a:r>
              <a:t>Staf Pengajar Ahli Program Studi Sarjana Terapan Teknologi Mekatronika PEI.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DASAR TEORI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Sistem Visi Komputer Tertanam &amp; Edge Computing RPi 5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8686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Laporan KP | Fahry Rizky Samsudin (1237030018) | Fisika FST UIN SGD Bandung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510528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E3A8A"/>
                </a:solidFill>
                <a:latin typeface="Arial"/>
              </a:defRPr>
            </a:pPr>
            <a:r>
              <a:t>6 /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34440"/>
            <a:ext cx="521208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E3A8A"/>
                </a:solidFill>
              </a:defRPr>
            </a:pPr>
            <a:r>
              <a:t>Sistem Visi Komputer Tertanam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Integrasi sistem tertanam dengan algoritma pemrosesan citra mandiri langsung pada sumber data (Szeliski, 2022).</a:t>
            </a:r>
          </a:p>
          <a:p>
            <a:pPr>
              <a:spcAft>
                <a:spcPts val="1400"/>
              </a:spcAft>
              <a:defRPr sz="1100">
                <a:solidFill>
                  <a:srgbClr val="0F172A"/>
                </a:solidFill>
              </a:defRPr>
            </a:pPr>
            <a:r>
              <a:t>• Menghilangkan latensi transmisi jaringan nirkabel dan menjaga keamanan data operasional (Li et al., 2018).</a:t>
            </a:r>
          </a:p>
          <a:p>
            <a:pPr>
              <a:spcAft>
                <a:spcPts val="600"/>
              </a:spcAft>
              <a:defRPr sz="1300" b="1">
                <a:solidFill>
                  <a:srgbClr val="0284C7"/>
                </a:solidFill>
              </a:defRPr>
            </a:pPr>
            <a:r>
              <a:t>Edge Computing: Raspberry Pi 5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SoC Broadcom BCM2712 Quad-Core ARM Cortex-A76 @2,4 GHz dengan IPC tinggi (Satyanarayanan, 2017).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Mampu mengeksekusi inferensi DNN dan pelacakan koordinat pada kecepatan 30 FPS tanpa GPU eksternal (Wang et al., 2020).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34440"/>
            <a:ext cx="5242255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Gambar3_1_antarmuka_dob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4876495" cy="3657371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400800" y="1371600"/>
            <a:ext cx="4876495" cy="3657371"/>
          </a:xfrm>
          <a:prstGeom prst="roundRect">
            <a:avLst/>
          </a:prstGeom>
          <a:noFill/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5715000"/>
            <a:ext cx="48764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E3A8A"/>
                </a:solidFill>
              </a:defRPr>
            </a:pPr>
            <a:r>
              <a:t>Gambar 3.1 Antarmuka Sistem Visi Komputer Tertanam pada Kendali Dobot Magician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DASAR TEORI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Ekstraksi Fitur Geometris &amp; MediaPipe Hand Landmarks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8686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Laporan KP | Fahry Rizky Samsudin (1237030018) | Fisika FST UIN SGD Bandung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510528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E3A8A"/>
                </a:solidFill>
                <a:latin typeface="Arial"/>
              </a:defRPr>
            </a:pPr>
            <a:r>
              <a:t>7 /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34440"/>
            <a:ext cx="521208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E3A8A"/>
                </a:solidFill>
              </a:defRPr>
            </a:pPr>
            <a:r>
              <a:t>Ekstraksi Fitur Geometris Tangan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Mereduksi beban pemrosesan piksel masif (RGB 640x480) menjadi representasi vektor persendian kerangka (Rautaray, 2015).</a:t>
            </a:r>
          </a:p>
          <a:p>
            <a:pPr>
              <a:spcAft>
                <a:spcPts val="1400"/>
              </a:spcAft>
              <a:defRPr sz="1100">
                <a:solidFill>
                  <a:srgbClr val="0F172A"/>
                </a:solidFill>
              </a:defRPr>
            </a:pPr>
            <a:r>
              <a:t>• Vektor fitur spasial 1D padat menghasilkan waktu inferensi milidetik pada komputasi tepi (Zhang et al., 2020).</a:t>
            </a:r>
          </a:p>
          <a:p>
            <a:pPr>
              <a:spcAft>
                <a:spcPts val="600"/>
              </a:spcAft>
              <a:defRPr sz="1300" b="1">
                <a:solidFill>
                  <a:srgbClr val="0284C7"/>
                </a:solidFill>
              </a:defRPr>
            </a:pPr>
            <a:r>
              <a:t>Topologi MediaPipe: 21 Landmarks (63 Koordinat)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Arsitektur 2 tahap: Palm Detector (lokalisasi telapak) dan Hand Landmark Model (21 titik persendian 3D x, y, z) (Lugaresi, 2019).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Titik 0 (WRIST) sebagai origin (0,0,0); normalisasi menghasilkan 63 nilai skalar invarian terhadap jarak/sudut kamera.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34440"/>
            <a:ext cx="5242255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Gambar3_2_mediapipe_landmar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4876495" cy="1690639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400800" y="1371600"/>
            <a:ext cx="4876495" cy="1690639"/>
          </a:xfrm>
          <a:prstGeom prst="roundRect">
            <a:avLst/>
          </a:prstGeom>
          <a:noFill/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5715000"/>
            <a:ext cx="48764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E3A8A"/>
                </a:solidFill>
              </a:defRPr>
            </a:pPr>
            <a:r>
              <a:t>Gambar 3.2 Representasi 21 Titik Persendian Tangan pada Framework MediaPipe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DASAR TEORI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Pengenalan SIBI Berbasis Deep Neural Networks (DNN)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8686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Laporan KP | Fahry Rizky Samsudin (1237030018) | Fisika FST UIN SGD Bandung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510528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E3A8A"/>
                </a:solidFill>
                <a:latin typeface="Arial"/>
              </a:defRPr>
            </a:pPr>
            <a:r>
              <a:t>8 /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34440"/>
            <a:ext cx="521208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E3A8A"/>
                </a:solidFill>
              </a:defRPr>
            </a:pPr>
            <a:r>
              <a:t>Sistem Isyarat Bahasa Indonesia (SIBI)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Tata bahasa isyarat formal daktilologi alfabet A--Z berbasis artikulasi sendi jari dan orientasi telapak tangan (Kosasih, 2012).</a:t>
            </a:r>
          </a:p>
          <a:p>
            <a:pPr>
              <a:spcAft>
                <a:spcPts val="1400"/>
              </a:spcAft>
              <a:defRPr sz="1100">
                <a:solidFill>
                  <a:srgbClr val="0F172A"/>
                </a:solidFill>
              </a:defRPr>
            </a:pPr>
            <a:r>
              <a:t>• Karakter unik kelengkungan jari dipetakan satu-satu (one-to-one mapping) ke instruksi mekanik robot meArm.</a:t>
            </a:r>
          </a:p>
          <a:p>
            <a:pPr>
              <a:spcAft>
                <a:spcPts val="600"/>
              </a:spcAft>
              <a:defRPr sz="1300" b="1">
                <a:solidFill>
                  <a:srgbClr val="0284C7"/>
                </a:solidFill>
              </a:defRPr>
            </a:pPr>
            <a:r>
              <a:t>Arsitektur Klasifikasi DNN Standar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Menggunakan Fully-Connected Layers dengan input 63 fitur numerik, bukan CNN piksel (Goodfellow et al., 2016).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Lapisan tersembunyi dengan aktivasi ReLU dan lapisan keluaran Softmax untuk memprediksi probabilitas 26 kelas abjad.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34440"/>
            <a:ext cx="5242255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371600"/>
            <a:ext cx="487649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1E3A8A"/>
                </a:solidFill>
              </a:defRPr>
            </a:pPr>
            <a:r>
              <a:t>FORMULASI MATEMATIKA MODEL DNN SIBI</a:t>
            </a:r>
          </a:p>
          <a:p>
            <a:pPr>
              <a:defRPr sz="1100" b="1">
                <a:solidFill>
                  <a:srgbClr val="059669"/>
                </a:solidFill>
              </a:defRPr>
            </a:pPr>
            <a:r>
              <a:t>1. Transformasi Lapisan Tersembunyi (Hidden Layer):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z^[l] = W^[l] . a^[l-1] + b^[l]</a:t>
            </a:r>
            <a:br/>
            <a:r>
              <a:t>a^[l] = ReLU(z^[l]) = max(0, z^[l])</a:t>
            </a:r>
          </a:p>
          <a:p>
            <a:pPr>
              <a:defRPr sz="1100" b="1">
                <a:solidFill>
                  <a:srgbClr val="059669"/>
                </a:solidFill>
              </a:defRPr>
            </a:pPr>
            <a:r>
              <a:t>2. Distribusi Probabilitas Kelas (Softmax Output):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P(y = k | x) = exp(z_k) / sum_{j=1..C} exp(z_j)</a:t>
            </a:r>
            <a:br/>
            <a:r>
              <a:t>dengan C = 26 kelas abjad SIBI (A sampai Z).</a:t>
            </a:r>
          </a:p>
          <a:p>
            <a:pPr>
              <a:defRPr sz="1100" b="1">
                <a:solidFill>
                  <a:srgbClr val="059669"/>
                </a:solidFill>
              </a:defRPr>
            </a:pPr>
            <a:r>
              <a:t>3. Fungsi Kerugian (Categorical Cross-Entropy):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L(y, y_hat) = - sum_{k=1..C} y_k . log(y_hat_k)</a:t>
            </a:r>
          </a:p>
          <a:p>
            <a:pPr>
              <a:defRPr sz="1100" b="1">
                <a:solidFill>
                  <a:srgbClr val="059669"/>
                </a:solidFill>
              </a:defRPr>
            </a:pPr>
            <a:r>
              <a:t>4. Kriteria Keputusan Aksi meArm: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Instruksi Valid jika Confidence Score &gt; 0,80;</a:t>
            </a:r>
            <a:br/>
            <a:r>
              <a:t>jika skor &lt;= 0,80 maka sinyal diabaikan untuk mencegah false trigger.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DASAR TEORI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Kinematika Robot Manipulator 4-DOF: Forward &amp; Inverse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8686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Laporan KP | Fahry Rizky Samsudin (1237030018) | Fisika FST UIN SGD Bandung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510528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E3A8A"/>
                </a:solidFill>
                <a:latin typeface="Arial"/>
              </a:defRPr>
            </a:pPr>
            <a:r>
              <a:t>9 /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34440"/>
            <a:ext cx="521208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1E3A8A"/>
                </a:solidFill>
              </a:defRPr>
            </a:pPr>
            <a:r>
              <a:t>KINEMATIKA MAJU (FORWARD KINEMATICS)</a:t>
            </a:r>
          </a:p>
          <a:p>
            <a:pPr>
              <a:defRPr sz="1100" b="1">
                <a:solidFill>
                  <a:srgbClr val="0284C7"/>
                </a:solidFill>
              </a:defRPr>
            </a:pPr>
            <a:r>
              <a:t>Definisi (Craig, 2018):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Menghitung posisi ujung efektor (X,Y,Z) berdasarkan sudut motor sendi (theta_1, theta_2, theta_3, theta_4).</a:t>
            </a:r>
          </a:p>
          <a:p>
            <a:pPr>
              <a:defRPr sz="1100" b="1">
                <a:solidFill>
                  <a:srgbClr val="0284C7"/>
                </a:solidFill>
              </a:defRPr>
            </a:pPr>
            <a:r>
              <a:t>Sudut Pitch Efektor (phi):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phi = theta_2 + theta_3 + theta_4</a:t>
            </a:r>
          </a:p>
          <a:p>
            <a:pPr>
              <a:defRPr sz="1100" b="1">
                <a:solidFill>
                  <a:srgbClr val="0284C7"/>
                </a:solidFill>
              </a:defRPr>
            </a:pPr>
            <a:r>
              <a:t>Radius Horizontal Planar (r):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r = L_1 cos(theta_2) + L_2 cos(theta_2 + theta_3) + L_3 cos(phi)</a:t>
            </a:r>
          </a:p>
          <a:p>
            <a:pPr>
              <a:defRPr sz="1100" b="1">
                <a:solidFill>
                  <a:srgbClr val="0284C7"/>
                </a:solidFill>
              </a:defRPr>
            </a:pPr>
            <a:r>
              <a:t>Koordinat Cartesian 3D (X, Y, Z):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X = r . cos(theta_1)</a:t>
            </a:r>
            <a:br/>
            <a:r>
              <a:t>Y = r . sin(theta_1)</a:t>
            </a:r>
            <a:br/>
            <a:r>
              <a:t>Z = d_1 + L_1 sin(theta_2) + L_2 sin(theta_2 + theta_3) + L_3 sin(phi)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34440"/>
            <a:ext cx="5242255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371600"/>
            <a:ext cx="487649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1E3A8A"/>
                </a:solidFill>
              </a:defRPr>
            </a:pPr>
            <a:r>
              <a:t>KINEMATIKA BALIKAN (INVERSE KINEMATICS)</a:t>
            </a:r>
          </a:p>
          <a:p>
            <a:pPr>
              <a:defRPr sz="1100" b="1">
                <a:solidFill>
                  <a:srgbClr val="059669"/>
                </a:solidFill>
              </a:defRPr>
            </a:pPr>
            <a:r>
              <a:t>Definisi (Lynch &amp; Park, 2017):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</a:defRPr>
            </a:pPr>
            <a:r>
              <a:t>Mencari kombinasi sudut sendi (theta_1..theta_4) agar efektor mencapai target fisik (X,Y,Z) dan sudut phi.</a:t>
            </a:r>
          </a:p>
          <a:p>
            <a:pPr>
              <a:defRPr sz="1100" b="1">
                <a:solidFill>
                  <a:srgbClr val="059669"/>
                </a:solidFill>
              </a:defRPr>
            </a:pPr>
            <a:r>
              <a:t>1. Sudut Basis &amp; Jarak Radius: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</a:defRPr>
            </a:pPr>
            <a:r>
              <a:t>theta_1 = atan2(Y, X),    r = sqrt(X^2 + Y^2)</a:t>
            </a:r>
          </a:p>
          <a:p>
            <a:pPr>
              <a:defRPr sz="1100" b="1">
                <a:solidFill>
                  <a:srgbClr val="059669"/>
                </a:solidFill>
              </a:defRPr>
            </a:pPr>
            <a:r>
              <a:t>2. Dekomposisi Wrist Center (r_w, z_w):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</a:defRPr>
            </a:pPr>
            <a:r>
              <a:t>r_w = r - L_3 cos(phi),    z_w = Z - d_1 - L_3 sin(phi)</a:t>
            </a:r>
          </a:p>
          <a:p>
            <a:pPr>
              <a:defRPr sz="1100" b="1">
                <a:solidFill>
                  <a:srgbClr val="059669"/>
                </a:solidFill>
              </a:defRPr>
            </a:pPr>
            <a:r>
              <a:t>3. Sudut Siku (theta_3) via Hukum Kosinus: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</a:defRPr>
            </a:pPr>
            <a:r>
              <a:t>cos(theta_3) = (r_w^2 + z_w^2 - L_1^2 - L_2^2) / (2 L_1 L_2)</a:t>
            </a:r>
            <a:br/>
            <a:r>
              <a:t>theta_3 = atan2(+/- sqrt(1 - cos^2(theta_3)), cos(theta_3))</a:t>
            </a:r>
          </a:p>
          <a:p>
            <a:pPr>
              <a:defRPr sz="1100" b="1">
                <a:solidFill>
                  <a:srgbClr val="059669"/>
                </a:solidFill>
              </a:defRPr>
            </a:pPr>
            <a:r>
              <a:t>4. Sudut Bahu &amp; Pergelangan (theta_2 &amp; theta_4):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</a:defRPr>
            </a:pPr>
            <a:r>
              <a:t>theta_2 = atan2(z_w, r_w) - atan2(L_2 sin(theta_3), L_1 + L_2 cos(theta_3))</a:t>
            </a:r>
            <a:br/>
            <a:r>
              <a:t>theta_4 = phi - theta_2 - theta_3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DASAR TEORI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Karakteristik Perangkat Keras: Dobot Magician vs meArm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8686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Laporan KP | Fahry Rizky Samsudin (1237030018) | Fisika FST UIN SGD Bandung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510528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E3A8A"/>
                </a:solidFill>
                <a:latin typeface="Arial"/>
              </a:defRPr>
            </a:pPr>
            <a:r>
              <a:t>10 /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34440"/>
            <a:ext cx="521208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Gambar3_3_dobot_magici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46320" cy="36347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14400" y="1371600"/>
            <a:ext cx="4846320" cy="3634740"/>
          </a:xfrm>
          <a:prstGeom prst="roundRect">
            <a:avLst/>
          </a:prstGeom>
          <a:noFill/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29768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1E3A8A"/>
                </a:solidFill>
              </a:defRPr>
            </a:pPr>
            <a:r>
              <a:t>Dobot Magician (Manipulator Presisi)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• Aktuator: Motor Stepper berpresisi tinggi (repeatability 0,2 mm; payload 500 g) (Dobot, 2026).</a:t>
            </a:r>
            <a:br/>
            <a:r>
              <a:t>• Protokol Kendali: USB Serial UART via pustaka pydobotplus (Point-to-Point motion).</a:t>
            </a:r>
            <a:br/>
            <a:r>
              <a:t>• Peran Riset: Menguji teleoperasi dinamis kontinu 3-sumbu Cartesian (X,Y,Z).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89788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Gambar 3.3 Lengan Robot Dobot Magician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34440"/>
            <a:ext cx="5242255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Gambar3_4a_mearm_dep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4876495" cy="3657371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400800" y="1371600"/>
            <a:ext cx="4876495" cy="3657371"/>
          </a:xfrm>
          <a:prstGeom prst="roundRect">
            <a:avLst/>
          </a:prstGeom>
          <a:noFill/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297680"/>
            <a:ext cx="48764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0284C7"/>
                </a:solidFill>
              </a:defRPr>
            </a:pPr>
            <a:r>
              <a:t>meArm 4-DOF (Purwarupa Edukasi)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• Aktuator: 4 unit mikro motor servo PWM (jangkauan gerak diagonal &lt;= 180 mm) (meArm, 2026).</a:t>
            </a:r>
            <a:br/>
            <a:r>
              <a:t>• Rangka: Struktur akrilik ringan dengan capit mekanis (gripper end-effector).</a:t>
            </a:r>
            <a:br/>
            <a:r>
              <a:t>• Peran Riset: Menguji respons gerak diskret berbasis pengenalan isyarat SIBI.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897880"/>
            <a:ext cx="48764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Gambar 3.4 Purwarupa Lengan Robot meArm 4-DOF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METODE PENELITIAN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Alat dan Bahan Penelitian (Tabel 4.1 Naskah Lengkap)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8686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Laporan KP | Fahry Rizky Samsudin (1237030018) | Fisika FST UIN SGD Bandung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510528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E3A8A"/>
                </a:solidFill>
                <a:latin typeface="Arial"/>
              </a:defRPr>
            </a:pPr>
            <a:r>
              <a:t>11 / 24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234440"/>
          <a:ext cx="10728655" cy="498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4846320"/>
                <a:gridCol w="5242255"/>
              </a:tblGrid>
              <a:tr h="35596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No.</a:t>
                      </a:r>
                    </a:p>
                  </a:txBody>
                  <a:tcPr anchor="ctr" marT="36576" marB="36576" marL="73152" marR="73152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Alat dan Bahan</a:t>
                      </a:r>
                    </a:p>
                  </a:txBody>
                  <a:tcPr anchor="ctr" marT="36576" marB="36576" marL="73152" marR="73152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Jumlah / Spesifikasi</a:t>
                      </a:r>
                    </a:p>
                  </a:txBody>
                  <a:tcPr anchor="ctr" marT="36576" marB="36576" marL="73152" marR="73152">
                    <a:solidFill>
                      <a:srgbClr val="1E3A8A"/>
                    </a:solidFill>
                  </a:tcPr>
                </a:tc>
              </a:tr>
              <a:tr h="35596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1.</a:t>
                      </a:r>
                    </a:p>
                  </a:txBody>
                  <a:tcPr anchor="ctr" marT="36576" marB="36576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Laptop</a:t>
                      </a:r>
                    </a:p>
                  </a:txBody>
                  <a:tcPr anchor="ctr" marT="36576" marB="36576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 unit (Development &amp; Dashboard)</a:t>
                      </a:r>
                    </a:p>
                  </a:txBody>
                  <a:tcPr anchor="ctr" marT="36576" marB="36576" marL="73152" marR="73152">
                    <a:solidFill>
                      <a:srgbClr val="FFFFFF"/>
                    </a:solidFill>
                  </a:tcPr>
                </a:tc>
              </a:tr>
              <a:tr h="35596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2.</a:t>
                      </a:r>
                    </a:p>
                  </a:txBody>
                  <a:tcPr anchor="ctr" marT="36576" marB="36576" marL="73152" marR="7315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Raspberry Pi 5</a:t>
                      </a:r>
                    </a:p>
                  </a:txBody>
                  <a:tcPr anchor="ctr" marT="36576" marB="36576" marL="73152" marR="7315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 unit (BCM2712 Quad-core Cortex-A76)</a:t>
                      </a:r>
                    </a:p>
                  </a:txBody>
                  <a:tcPr anchor="ctr" marT="36576" marB="36576" marL="73152" marR="73152">
                    <a:solidFill>
                      <a:srgbClr val="F1F5F9"/>
                    </a:solidFill>
                  </a:tcPr>
                </a:tc>
              </a:tr>
              <a:tr h="35596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3.</a:t>
                      </a:r>
                    </a:p>
                  </a:txBody>
                  <a:tcPr anchor="ctr" marT="36576" marB="36576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Lengan Robot Dobot Magician</a:t>
                      </a:r>
                    </a:p>
                  </a:txBody>
                  <a:tcPr anchor="ctr" marT="36576" marB="36576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 unit (Stepper Industrial, Repeatability 0,2 mm)</a:t>
                      </a:r>
                    </a:p>
                  </a:txBody>
                  <a:tcPr anchor="ctr" marT="36576" marB="36576" marL="73152" marR="73152">
                    <a:solidFill>
                      <a:srgbClr val="FFFFFF"/>
                    </a:solidFill>
                  </a:tcPr>
                </a:tc>
              </a:tr>
              <a:tr h="35596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4.</a:t>
                      </a:r>
                    </a:p>
                  </a:txBody>
                  <a:tcPr anchor="ctr" marT="36576" marB="36576" marL="73152" marR="7315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Lengan Robot meArm (4-DOF)</a:t>
                      </a:r>
                    </a:p>
                  </a:txBody>
                  <a:tcPr anchor="ctr" marT="36576" marB="36576" marL="73152" marR="7315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 unit (Purwarupa Akrilik + 4 Motor Servo)</a:t>
                      </a:r>
                    </a:p>
                  </a:txBody>
                  <a:tcPr anchor="ctr" marT="36576" marB="36576" marL="73152" marR="73152">
                    <a:solidFill>
                      <a:srgbClr val="F1F5F9"/>
                    </a:solidFill>
                  </a:tcPr>
                </a:tc>
              </a:tr>
              <a:tr h="35596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5.</a:t>
                      </a:r>
                    </a:p>
                  </a:txBody>
                  <a:tcPr anchor="ctr" marT="36576" marB="36576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Kamera Web (Webcam) Logitech</a:t>
                      </a:r>
                    </a:p>
                  </a:txBody>
                  <a:tcPr anchor="ctr" marT="36576" marB="36576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 unit (Model: C270 HD, 640x480 @30 FPS)</a:t>
                      </a:r>
                    </a:p>
                  </a:txBody>
                  <a:tcPr anchor="ctr" marT="36576" marB="36576" marL="73152" marR="73152">
                    <a:solidFill>
                      <a:srgbClr val="FFFFFF"/>
                    </a:solidFill>
                  </a:tcPr>
                </a:tc>
              </a:tr>
              <a:tr h="35596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6.</a:t>
                      </a:r>
                    </a:p>
                  </a:txBody>
                  <a:tcPr anchor="ctr" marT="36576" marB="36576" marL="73152" marR="7315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Monitor Raspberry Pi</a:t>
                      </a:r>
                    </a:p>
                  </a:txBody>
                  <a:tcPr anchor="ctr" marT="36576" marB="36576" marL="73152" marR="7315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 unit (Display Visual Stasiun Kerja)</a:t>
                      </a:r>
                    </a:p>
                  </a:txBody>
                  <a:tcPr anchor="ctr" marT="36576" marB="36576" marL="73152" marR="73152">
                    <a:solidFill>
                      <a:srgbClr val="F1F5F9"/>
                    </a:solidFill>
                  </a:tcPr>
                </a:tc>
              </a:tr>
              <a:tr h="35596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7.</a:t>
                      </a:r>
                    </a:p>
                  </a:txBody>
                  <a:tcPr anchor="ctr" marT="36576" marB="36576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Adaptor Daya Power Supply RPi 5</a:t>
                      </a:r>
                    </a:p>
                  </a:txBody>
                  <a:tcPr anchor="ctr" marT="36576" marB="36576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 unit (Catu Daya Mandiri Anti-Undervoltage)</a:t>
                      </a:r>
                    </a:p>
                  </a:txBody>
                  <a:tcPr anchor="ctr" marT="36576" marB="36576" marL="73152" marR="73152">
                    <a:solidFill>
                      <a:srgbClr val="FFFFFF"/>
                    </a:solidFill>
                  </a:tcPr>
                </a:tc>
              </a:tr>
              <a:tr h="35596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8.</a:t>
                      </a:r>
                    </a:p>
                  </a:txBody>
                  <a:tcPr anchor="ctr" marT="36576" marB="36576" marL="73152" marR="7315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Power Supply 5V DC Eksternal</a:t>
                      </a:r>
                    </a:p>
                  </a:txBody>
                  <a:tcPr anchor="ctr" marT="36576" marB="36576" marL="73152" marR="7315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 unit (Penyuplai Daya Khusus Servo meArm)</a:t>
                      </a:r>
                    </a:p>
                  </a:txBody>
                  <a:tcPr anchor="ctr" marT="36576" marB="36576" marL="73152" marR="73152">
                    <a:solidFill>
                      <a:srgbClr val="F1F5F9"/>
                    </a:solidFill>
                  </a:tcPr>
                </a:tc>
              </a:tr>
              <a:tr h="35596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9.</a:t>
                      </a:r>
                    </a:p>
                  </a:txBody>
                  <a:tcPr anchor="ctr" marT="36576" marB="36576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Papan Rangkaian (Breadboard) &amp; Kabel Jumper</a:t>
                      </a:r>
                    </a:p>
                  </a:txBody>
                  <a:tcPr anchor="ctr" marT="36576" marB="36576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 set (Male-to-Male / Male-to-Female)</a:t>
                      </a:r>
                    </a:p>
                  </a:txBody>
                  <a:tcPr anchor="ctr" marT="36576" marB="36576" marL="73152" marR="73152">
                    <a:solidFill>
                      <a:srgbClr val="FFFFFF"/>
                    </a:solidFill>
                  </a:tcPr>
                </a:tc>
              </a:tr>
              <a:tr h="35596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10.</a:t>
                      </a:r>
                    </a:p>
                  </a:txBody>
                  <a:tcPr anchor="ctr" marT="36576" marB="36576" marL="73152" marR="7315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Kabel USB Serial</a:t>
                      </a:r>
                    </a:p>
                  </a:txBody>
                  <a:tcPr anchor="ctr" marT="36576" marB="36576" marL="73152" marR="7315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 unit (Komunikasi UART RPi 5 ke Dobot)</a:t>
                      </a:r>
                    </a:p>
                  </a:txBody>
                  <a:tcPr anchor="ctr" marT="36576" marB="36576" marL="73152" marR="73152">
                    <a:solidFill>
                      <a:srgbClr val="F1F5F9"/>
                    </a:solidFill>
                  </a:tcPr>
                </a:tc>
              </a:tr>
              <a:tr h="35596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11.</a:t>
                      </a:r>
                    </a:p>
                  </a:txBody>
                  <a:tcPr anchor="ctr" marT="36576" marB="36576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Sistem Operasi &amp; Software Utama</a:t>
                      </a:r>
                    </a:p>
                  </a:txBody>
                  <a:tcPr anchor="ctr" marT="36576" marB="36576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Raspberry Pi OS (64-bit), Python 3.9</a:t>
                      </a:r>
                    </a:p>
                  </a:txBody>
                  <a:tcPr anchor="ctr" marT="36576" marB="36576" marL="73152" marR="73152">
                    <a:solidFill>
                      <a:srgbClr val="FFFFFF"/>
                    </a:solidFill>
                  </a:tcPr>
                </a:tc>
              </a:tr>
              <a:tr h="35596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12.</a:t>
                      </a:r>
                    </a:p>
                  </a:txBody>
                  <a:tcPr anchor="ctr" marT="36576" marB="36576" marL="73152" marR="7315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Pustaka Komputasi &amp; AI</a:t>
                      </a:r>
                    </a:p>
                  </a:txBody>
                  <a:tcPr anchor="ctr" marT="36576" marB="36576" marL="73152" marR="7315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OpenCV (v4.9.0.80), MediaPipe (v0.9.0.1), TensorFlow/Keras</a:t>
                      </a:r>
                    </a:p>
                  </a:txBody>
                  <a:tcPr anchor="ctr" marT="36576" marB="36576" marL="73152" marR="73152">
                    <a:solidFill>
                      <a:srgbClr val="F1F5F9"/>
                    </a:solidFill>
                  </a:tcPr>
                </a:tc>
              </a:tr>
              <a:tr h="35597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13.</a:t>
                      </a:r>
                    </a:p>
                  </a:txBody>
                  <a:tcPr anchor="ctr" marT="36576" marB="36576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Pustaka Komunikasi &amp; GUI</a:t>
                      </a:r>
                    </a:p>
                  </a:txBody>
                  <a:tcPr anchor="ctr" marT="36576" marB="36576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NumPy (v1.23.5), PySerial, Pydobotplus, Tkinter, Pillow</a:t>
                      </a:r>
                    </a:p>
                  </a:txBody>
                  <a:tcPr anchor="ctr" marT="36576" marB="36576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METODE PENELITIAN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Diagram Alir Penelitian (Gambar 4.1 Naskah LaTeX Asli)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8686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Laporan KP | Fahry Rizky Samsudin (1237030018) | Fisika FST UIN SGD Bandung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510528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E3A8A"/>
                </a:solidFill>
                <a:latin typeface="Arial"/>
              </a:defRPr>
            </a:pPr>
            <a:r>
              <a:t>12 / 24</a:t>
            </a:r>
          </a:p>
        </p:txBody>
      </p:sp>
      <p:pic>
        <p:nvPicPr>
          <p:cNvPr id="9" name="Picture 8" descr="Gambar4_1_diagram_alir_penelitian_as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234440"/>
            <a:ext cx="4792847" cy="466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598932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E3A8A"/>
                </a:solidFill>
              </a:defRPr>
            </a:pPr>
            <a:r>
              <a:t>Gambar 4.1 Diagram Alir Penelitian 6 Tahapan Metodologi Resmi (Bab IV)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METODE PENELITIAN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Perancangan Perangkat Keras: Integrasi Daya Terpisah &amp; Serial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8686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Laporan KP | Fahry Rizky Samsudin (1237030018) | Fisika FST UIN SGD Bandung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510528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E3A8A"/>
                </a:solidFill>
                <a:latin typeface="Arial"/>
              </a:defRPr>
            </a:pPr>
            <a:r>
              <a:t>13 /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34440"/>
            <a:ext cx="521208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1E3A8A"/>
                </a:solidFill>
              </a:defRPr>
            </a:pPr>
            <a:r>
              <a:t>SKEMA ELEKTRONIKA &amp; MANAJEMEN DAYA</a:t>
            </a:r>
          </a:p>
          <a:p>
            <a:pPr>
              <a:defRPr sz="1100" b="1">
                <a:solidFill>
                  <a:srgbClr val="0284C7"/>
                </a:solidFill>
              </a:defRPr>
            </a:pPr>
            <a:r>
              <a:t>1. Catu Daya Terpisah 5V DC (Servo meArm):</a:t>
            </a:r>
          </a:p>
          <a:p>
            <a:pPr>
              <a:spcAft>
                <a:spcPts val="700"/>
              </a:spcAft>
              <a:defRPr sz="1050">
                <a:solidFill>
                  <a:srgbClr val="0F172A"/>
                </a:solidFill>
              </a:defRPr>
            </a:pPr>
            <a:r>
              <a:t>Motor servo meArm dialirkan arus dari catu daya eksternal 5V terpisah guna mengisolasi mikrokontroler dari lonjakan arus transien (surge current) dan induksi medan elektromagnetik motor.</a:t>
            </a:r>
          </a:p>
          <a:p>
            <a:pPr>
              <a:defRPr sz="1100" b="1">
                <a:solidFill>
                  <a:srgbClr val="0284C7"/>
                </a:solidFill>
              </a:defRPr>
            </a:pPr>
            <a:r>
              <a:t>2. Pasokan Daya Khusus Raspberry Pi 5:</a:t>
            </a:r>
          </a:p>
          <a:p>
            <a:pPr>
              <a:spcAft>
                <a:spcPts val="700"/>
              </a:spcAft>
              <a:defRPr sz="1050">
                <a:solidFill>
                  <a:srgbClr val="0F172A"/>
                </a:solidFill>
              </a:defRPr>
            </a:pPr>
            <a:r>
              <a:t>Menggunakan catu daya resmi 5V/5A USB-C untuk menjamin prosesor tidak mengalami penurunan tegangan (under-voltage) saat mengeksekusi inferensi DNN dan komputasi visi 30 FPS.</a:t>
            </a:r>
          </a:p>
          <a:p>
            <a:pPr>
              <a:defRPr sz="1100" b="1">
                <a:solidFill>
                  <a:srgbClr val="0284C7"/>
                </a:solidFill>
              </a:defRPr>
            </a:pPr>
            <a:r>
              <a:t>3. Komunikasi USB Serial UART (Dobot Magician):</a:t>
            </a:r>
          </a:p>
          <a:p>
            <a:pPr>
              <a:spcAft>
                <a:spcPts val="700"/>
              </a:spcAft>
              <a:defRPr sz="1050">
                <a:solidFill>
                  <a:srgbClr val="0F172A"/>
                </a:solidFill>
              </a:defRPr>
            </a:pPr>
            <a:r>
              <a:t>Menghubungkan port USB RPi 5 secara langsung ke papan mikrokontroler internal Dobot Magician untuk stabilitas transmisi paket instruksi koordinat Cartesian.</a:t>
            </a:r>
          </a:p>
          <a:p>
            <a:pPr>
              <a:defRPr sz="1100" b="1">
                <a:solidFill>
                  <a:srgbClr val="0284C7"/>
                </a:solidFill>
              </a:defRPr>
            </a:pPr>
            <a:r>
              <a:t>4. Sinyal Kendali GPIO PWM:</a:t>
            </a:r>
          </a:p>
          <a:p>
            <a:pPr>
              <a:spcAft>
                <a:spcPts val="700"/>
              </a:spcAft>
              <a:defRPr sz="1050">
                <a:solidFill>
                  <a:srgbClr val="0F172A"/>
                </a:solidFill>
              </a:defRPr>
            </a:pPr>
            <a:r>
              <a:t>Jalur logika GPIO mendistribusikan sinyal lebar pulsa (PWM) untuk mengontrol orientasi sudut 4 servo meArm melalui bantuan breadboard.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34440"/>
            <a:ext cx="5242255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Gambar6_9_integrasi_sistem_mea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4876495" cy="3657371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400800" y="1371600"/>
            <a:ext cx="4876495" cy="3657371"/>
          </a:xfrm>
          <a:prstGeom prst="roundRect">
            <a:avLst/>
          </a:prstGeom>
          <a:noFill/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5715000"/>
            <a:ext cx="48764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E3A8A"/>
                </a:solidFill>
              </a:defRPr>
            </a:pPr>
            <a:r>
              <a:t>Dokumentasi Realisasi Integrasi Perangkat Keras di Meja Eksperimen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METODE PENELITIAN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Arsitektur Sistem Tertanam Raspberry Pi 5 (Gambar 5.1)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8686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Laporan KP | Fahry Rizky Samsudin (1237030018) | Fisika FST UIN SGD Bandung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510528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E3A8A"/>
                </a:solidFill>
                <a:latin typeface="Arial"/>
              </a:defRPr>
            </a:pPr>
            <a:r>
              <a:t>14 / 24</a:t>
            </a:r>
          </a:p>
        </p:txBody>
      </p:sp>
      <p:pic>
        <p:nvPicPr>
          <p:cNvPr id="9" name="Picture 8" descr="Gambar5_1_arsitektur_sistem_as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234440"/>
            <a:ext cx="8440209" cy="466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598932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E3A8A"/>
                </a:solidFill>
              </a:defRPr>
            </a:pPr>
            <a:r>
              <a:t>Gambar 5.1 Hasil Rancangan Arsitektur Sistem Tertanam Berbasis Raspberry Pi 5 (Bab V)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METODE PENELITIAN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Diagram Alir Logika Piranti Lunak (Mode SIBI &amp; Teleoperasi)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8686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Laporan KP | Fahry Rizky Samsudin (1237030018) | Fisika FST UIN SGD Bandung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510528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E3A8A"/>
                </a:solidFill>
                <a:latin typeface="Arial"/>
              </a:defRPr>
            </a:pPr>
            <a:r>
              <a:t>15 / 24</a:t>
            </a:r>
          </a:p>
        </p:txBody>
      </p:sp>
      <p:pic>
        <p:nvPicPr>
          <p:cNvPr id="9" name="Picture 8" descr="Gambar4_2_diagram_alir_software_as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34440"/>
            <a:ext cx="10466005" cy="466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598932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E3A8A"/>
                </a:solidFill>
              </a:defRPr>
            </a:pPr>
            <a:r>
              <a:t>Gambar 4.2 Alur Logika Perancangan Piranti Lunak Mode SIBI dan Teleoperasi (Bab IV &amp; Lampiran)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HASIL DAN PEMBAHASAN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Pelatihan Model DNN SIBI Konvergen pada 100 Epoch Tanpa Overfitting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8686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Laporan KP | Fahry Rizky Samsudin (1237030018) | Fisika FST UIN SGD Bandung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510528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E3A8A"/>
                </a:solidFill>
                <a:latin typeface="Arial"/>
              </a:defRPr>
            </a:pPr>
            <a:r>
              <a:t>16 /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34440"/>
            <a:ext cx="52120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Gambar5_2a_akurasi_sib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371600"/>
            <a:ext cx="4937760" cy="3291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" y="4983480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E3A8A"/>
                </a:solidFill>
              </a:defRPr>
            </a:pPr>
            <a:r>
              <a:t>Gambar 5.2a Kurva Akurasi vs Epoch (Training vs Validasi)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234440"/>
            <a:ext cx="5242255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Gambar5_2b_loss_si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937760" cy="32918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17920" y="4983480"/>
            <a:ext cx="52422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E3A8A"/>
                </a:solidFill>
              </a:defRPr>
            </a:pPr>
            <a:r>
              <a:t>Gambar 5.2b Kurva Nilai Kerugian (Loss) vs Epoch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440680"/>
            <a:ext cx="10728655" cy="868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86400"/>
            <a:ext cx="103628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• Akurasi data latih melonjak tajam dalam 20 epoch pertama (dari 21,3% ke &gt;90,0%) dan stabil pada 98,5%; akurasi validasi mencapai 100,0%.</a:t>
            </a:r>
            <a:br/>
            <a:r>
              <a:t>• Nilai Loss menyusut eksponensial dari 3,08 menjadi &lt;0,10; kurva validasi berimpit rapat dengan latih mengonfirmasi bebas masalah overfitting.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HASIL DAN PEMBAHASAN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Pengujian Real-Time SIBI Menghasilkan Akurasi 96,73% (503/520 Data)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8686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Laporan KP | Fahry Rizky Samsudin (1237030018) | Fisika FST UIN SGD Bandung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510528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E3A8A"/>
                </a:solidFill>
                <a:latin typeface="Arial"/>
              </a:defRPr>
            </a:pPr>
            <a:r>
              <a:t>17 /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34440"/>
            <a:ext cx="521208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Gambar5_4_cm_real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325880"/>
            <a:ext cx="4937760" cy="26360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" y="5897880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E3A8A"/>
                </a:solidFill>
              </a:defRPr>
            </a:pPr>
            <a:r>
              <a:t>Gambar 5.4 Matriks Kebingungan Pengujian Real-Time (20 Data/Abjad)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234440"/>
            <a:ext cx="5242255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371600"/>
            <a:ext cx="48764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Tabel 5.2 Rekapitulasi Kinerja Pengujian Sistem SIBI (Sesi 18 Februari 2026)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00800" y="2011680"/>
          <a:ext cx="4876495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133295"/>
                <a:gridCol w="640080"/>
                <a:gridCol w="731520"/>
                <a:gridCol w="914400"/>
              </a:tblGrid>
              <a:tr h="396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No.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Kelompok Isyarat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Uji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Benar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Akurasi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Perintah Utama (A--E)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100,0 %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2.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Isyarat Sekunder (F--J)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100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92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92,00 %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3.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Isyarat Lanjutan 1 (K--R)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160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154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96,25 %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4.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Isyarat Lanjutan 2 (S--Z)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160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157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98,13 %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97706"/>
                          </a:solidFill>
                          <a:latin typeface="Arial"/>
                        </a:defRPr>
                      </a:pPr>
                      <a:r>
                        <a:t>Total</a:t>
                      </a:r>
                    </a:p>
                  </a:txBody>
                  <a:tcPr anchor="ctr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97706"/>
                          </a:solidFill>
                          <a:latin typeface="Arial"/>
                        </a:defRPr>
                      </a:pPr>
                      <a:r>
                        <a:t>Kinerja Keseluruhan</a:t>
                      </a:r>
                    </a:p>
                  </a:txBody>
                  <a:tcPr anchor="ctr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97706"/>
                          </a:solidFill>
                          <a:latin typeface="Arial"/>
                        </a:defRPr>
                      </a:pPr>
                      <a:r>
                        <a:t>520</a:t>
                      </a:r>
                    </a:p>
                  </a:txBody>
                  <a:tcPr anchor="ctr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97706"/>
                          </a:solidFill>
                          <a:latin typeface="Arial"/>
                        </a:defRPr>
                      </a:pPr>
                      <a:r>
                        <a:t>503</a:t>
                      </a:r>
                    </a:p>
                  </a:txBody>
                  <a:tcPr anchor="ctr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97706"/>
                          </a:solidFill>
                          <a:latin typeface="Arial"/>
                        </a:defRPr>
                      </a:pPr>
                      <a:r>
                        <a:t>96,73 %</a:t>
                      </a:r>
                    </a:p>
                  </a:txBody>
                  <a:tcPr anchor="ctr">
                    <a:solidFill>
                      <a:srgbClr val="FEF3C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400800" y="4572000"/>
            <a:ext cx="48764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Analisis Keberhasilan Fitur: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• 22 dari 26 abjad berhasil dikenali dengan akurasi 100% sempurna.</a:t>
            </a:r>
            <a:br/>
            <a:r>
              <a:t>• Kelompok perintah gerak meArm (A--E) meraih akurasi 100,0% tanpa galat.</a:t>
            </a:r>
            <a:br/>
            <a:r>
              <a:t>• Galat klasifikasi minor terbatas pada huruf J, M, N, dan Y akibat kemiripan topologi lekukan jari.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HASIL DAN PEMBAHASAN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Seluruh 5 Perintah SIBI Berhasil Diterjemahkan ke Respons Fisik meArm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8686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Laporan KP | Fahry Rizky Samsudin (1237030018) | Fisika FST UIN SGD Bandung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510528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E3A8A"/>
                </a:solidFill>
                <a:latin typeface="Arial"/>
              </a:defRPr>
            </a:pPr>
            <a:r>
              <a:t>18 /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34440"/>
            <a:ext cx="521208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Gambar5_5_uji_mearm_sib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46320" cy="430626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14400" y="1371600"/>
            <a:ext cx="4846320" cy="4306261"/>
          </a:xfrm>
          <a:prstGeom prst="roundRect">
            <a:avLst/>
          </a:prstGeom>
          <a:noFill/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715000"/>
            <a:ext cx="5212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Gambar 5.5 Dokumentasi Pengujian Respons Kinematik meArm Berbasis Deteksi Isyarat SIBI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234440"/>
            <a:ext cx="5242255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371600"/>
            <a:ext cx="48764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Tabel 5.3 Pengujian Respons Kinematik meArm terhadap Perintah SIBI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400800" y="2011680"/>
          <a:ext cx="4876495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640080"/>
                <a:gridCol w="1554480"/>
                <a:gridCol w="1401775"/>
                <a:gridCol w="822960"/>
              </a:tblGrid>
              <a:tr h="396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No.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Isyarat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Perintah Aksi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Target Spasial / Fisik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'A'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Maju ke posisi kerja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XYZ(80, 0, 40) mm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59669"/>
                          </a:solidFill>
                          <a:latin typeface="Arial"/>
                        </a:defRPr>
                      </a:pPr>
                      <a:r>
                        <a:t>Berhasil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2.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'B'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Rotasi ke samping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XYZ(60, 60, 30) mm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59669"/>
                          </a:solidFill>
                          <a:latin typeface="Arial"/>
                        </a:defRPr>
                      </a:pPr>
                      <a:r>
                        <a:t>Berhasil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3.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'C'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Menutup gripper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Sudut servo 90 deg (Menjepit)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59669"/>
                          </a:solidFill>
                          <a:latin typeface="Arial"/>
                        </a:defRPr>
                      </a:pPr>
                      <a:r>
                        <a:t>Berhasil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4.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'D'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Membuka gripper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Sudut servo 180 deg (Melepas)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59669"/>
                          </a:solidFill>
                          <a:latin typeface="Arial"/>
                        </a:defRPr>
                      </a:pPr>
                      <a:r>
                        <a:t>Berhasil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5.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'E'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Kembali home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Posisi parkir awal robot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59669"/>
                          </a:solidFill>
                          <a:latin typeface="Arial"/>
                        </a:defRPr>
                      </a:pPr>
                      <a:r>
                        <a:t>Berhasil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400800" y="4572000"/>
            <a:ext cx="48764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Analisis Mekanika meArm: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• Seluruh 5 perintah utama sukses dieksekusi 100% oleh 4 motor servo meArm.</a:t>
            </a:r>
            <a:br/>
            <a:r>
              <a:t>• Penerapan algoritma smooth stepping pada firmware mengeliminasi lonjakan torsi mendadak.</a:t>
            </a:r>
            <a:br/>
            <a:r>
              <a:t>• Batasan jangkauan fisik &lt;= 180 mm berhasil dijaga agar tautan akrilik tidak membentur batas mekanis.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HASIL DAN PEMBAHASAN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Evaluasi Pemetaan 6 Arah Spasial Teleoperasi Dobot Terkonfirmasi 100% Valid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8686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Laporan KP | Fahry Rizky Samsudin (1237030018) | Fisika FST UIN SGD Bandung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510528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E3A8A"/>
                </a:solidFill>
                <a:latin typeface="Arial"/>
              </a:defRPr>
            </a:pPr>
            <a:r>
              <a:t>19 /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34440"/>
            <a:ext cx="521208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Gambar5_6_uji_teleoperasi_do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46320" cy="467968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14400" y="1371600"/>
            <a:ext cx="4846320" cy="4679684"/>
          </a:xfrm>
          <a:prstGeom prst="roundRect">
            <a:avLst/>
          </a:prstGeom>
          <a:noFill/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715000"/>
            <a:ext cx="5212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Gambar 5.6 Dokumentasi Pengujian Mode Teleoperasi Dobot Magician Menggunakan MediaPipe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234440"/>
            <a:ext cx="5242255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371600"/>
            <a:ext cx="48764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Tabel 5.4 Evaluasi Pemetaan Koordinat Hand Tracking ke Dobot Magician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400800" y="2011680"/>
          <a:ext cx="4876495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1950415"/>
                <a:gridCol w="1645920"/>
                <a:gridCol w="822960"/>
              </a:tblGrid>
              <a:tr h="3657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No.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Arah Gerak Tangan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Respons Fisik Dobot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Kesesuaian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Geser Kanan (X &gt; 0,5)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Translasi sumbu Y+ (Kanan)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59669"/>
                          </a:solidFill>
                          <a:latin typeface="Arial"/>
                        </a:defRPr>
                      </a:pPr>
                      <a:r>
                        <a:t>Sesuai (Valid)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2.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Geser Kiri (X &lt; 0,5)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Translasi sumbu Y- (Kiri)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59669"/>
                          </a:solidFill>
                          <a:latin typeface="Arial"/>
                        </a:defRPr>
                      </a:pPr>
                      <a:r>
                        <a:t>Sesuai (Valid)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3.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Angkat Tangan (Y &lt; 0,5)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Translasi sumbu Z+ (Naik)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59669"/>
                          </a:solidFill>
                          <a:latin typeface="Arial"/>
                        </a:defRPr>
                      </a:pPr>
                      <a:r>
                        <a:t>Sesuai (Valid)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4.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Turun Tangan (Y &gt; 0,5)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Translasi sumbu Z- (Turun)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59669"/>
                          </a:solidFill>
                          <a:latin typeface="Arial"/>
                        </a:defRPr>
                      </a:pPr>
                      <a:r>
                        <a:t>Sesuai (Valid)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5.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Mendekati Kamera (Skala &gt; 0,2)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Jangkauan sumbu X+ (Maju)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59669"/>
                          </a:solidFill>
                          <a:latin typeface="Arial"/>
                        </a:defRPr>
                      </a:pPr>
                      <a:r>
                        <a:t>Sesuai (Valid)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6.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Jepit Jari (&lt; 30 px)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Penyedot Vakum Aktif (Suction ON)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59669"/>
                          </a:solidFill>
                          <a:latin typeface="Arial"/>
                        </a:defRPr>
                      </a:pPr>
                      <a:r>
                        <a:t>Sesuai (Valid)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400800" y="4709160"/>
            <a:ext cx="48764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Analisis Filter Anti-Jitter: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• Seluruh 6 pemetaan arah spasial terbukti 100% sinkron (6/6 Valid).</a:t>
            </a:r>
            <a:br/>
            <a:r>
              <a:t>• Penerapan filter Exponential Smoothing (alpha = 0,2) dan deadband threshold gerak 5,0 mm sukses mengeliminasi getaran mikro (jitter) tanpa mengurangi kelincahan manuver.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HASIL DAN PEMBAHASAN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Presisi Spasial Rata-rata 1,90 mm dan Waktu Respons 87,25 ms pada Dobot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8686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Laporan KP | Fahry Rizky Samsudin (1237030018) | Fisika FST UIN SGD Bandung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510528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E3A8A"/>
                </a:solidFill>
                <a:latin typeface="Arial"/>
              </a:defRPr>
            </a:pPr>
            <a:r>
              <a:t>20 /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34440"/>
            <a:ext cx="521208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1E3A8A"/>
                </a:solidFill>
              </a:defRPr>
            </a:pPr>
            <a:r>
              <a:t>FORMULASI GALAT EUCLIDEAN &amp; LATENSI</a:t>
            </a:r>
          </a:p>
          <a:p>
            <a:pPr>
              <a:defRPr sz="1100" b="1">
                <a:solidFill>
                  <a:srgbClr val="0284C7"/>
                </a:solidFill>
              </a:defRPr>
            </a:pPr>
            <a:r>
              <a:t>1. Galat Jarak Spasial 3D (Euclidean Error):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e = sqrt( (X_target - X_aktual)^2 + (Y_target - Y_aktual)^2 + (Z_target - Z_aktual)^2 )</a:t>
            </a:r>
            <a:br/>
            <a:r>
              <a:t>Koordinat aktual dibaca presisi melalui enkoder internal optik Dobot via pydobotplus.</a:t>
            </a:r>
          </a:p>
          <a:p>
            <a:pPr>
              <a:defRPr sz="1100" b="1">
                <a:solidFill>
                  <a:srgbClr val="0284C7"/>
                </a:solidFill>
              </a:defRPr>
            </a:pPr>
            <a:r>
              <a:t>2. Definisi Waktu Respons Sistem (Latency):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Dihitung menggunakan penanda waktu (timestamp) Python: selisih waktu dari saat frame citra diterima pipeline MediaPipe hingga konfirmasi instruksi PTP oleh mikrokontroler Dobot.</a:t>
            </a:r>
          </a:p>
          <a:p>
            <a:pPr>
              <a:defRPr sz="1100" b="1">
                <a:solidFill>
                  <a:srgbClr val="0284C7"/>
                </a:solidFill>
              </a:defRPr>
            </a:pPr>
            <a:r>
              <a:t>3. Evaluasi Batas Persepsi Manusia: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Waktu respons 87,25 ms berada di bawah batas ambang persepsi visual manusia (100 ms), sehingga operator merasakan pergerakan robot yang sangat instan dan mulus (near real-time).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34440"/>
            <a:ext cx="5242255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371600"/>
            <a:ext cx="48764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Tabel 5.5 Pengujian Presisi Spasial dan Waktu Respons Dobot Magician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0" y="2011680"/>
          <a:ext cx="4876495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554480"/>
                <a:gridCol w="1554480"/>
                <a:gridCol w="640080"/>
                <a:gridCol w="578815"/>
              </a:tblGrid>
              <a:tr h="396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No.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Target (mm)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Aktual (mm)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Galat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Respons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(200,0; 0,0; 0,0)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(198,8; 0,4; -0,2)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1,28 mm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82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2.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(220,0; 50,0; 30,0)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(218,6; 49,2; 29,5)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1,68 mm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88 ms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3.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(250,0; -60,0; 50,0)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(247,8; -58,7; 50,8)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2,68 mm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94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4.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(190,0; 80,0; -20,0)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(188,5; 78,9; -19,4)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1,95 mm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85 ms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97706"/>
                          </a:solidFill>
                          <a:latin typeface="Arial"/>
                        </a:defRPr>
                      </a:pPr>
                      <a:r>
                        <a:t>Rata-rata</a:t>
                      </a:r>
                    </a:p>
                  </a:txBody>
                  <a:tcPr anchor="ctr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97706"/>
                          </a:solidFill>
                          <a:latin typeface="Arial"/>
                        </a:defRPr>
                      </a:pPr>
                      <a:r>
                        <a:t>Evaluasi Spasial 4 Kuadran</a:t>
                      </a:r>
                    </a:p>
                  </a:txBody>
                  <a:tcPr anchor="ctr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97706"/>
                          </a:solidFill>
                          <a:latin typeface="Arial"/>
                        </a:defRPr>
                      </a:pPr>
                      <a:r>
                        <a:t>1,90 mm</a:t>
                      </a:r>
                    </a:p>
                  </a:txBody>
                  <a:tcPr anchor="ctr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97706"/>
                          </a:solidFill>
                          <a:latin typeface="Arial"/>
                        </a:defRPr>
                      </a:pPr>
                      <a:r>
                        <a:t>87,25 ms</a:t>
                      </a:r>
                    </a:p>
                  </a:txBody>
                  <a:tcPr anchor="ctr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00800" y="4572000"/>
            <a:ext cx="48764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59669"/>
                </a:solidFill>
              </a:defRPr>
            </a:pPr>
            <a:r>
              <a:t>Kesimpulan Metrik Dobot: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• Galat spasial terendah 1,28 mm pada posisi netral depan (X=200, Y=0, Z=0).</a:t>
            </a:r>
            <a:br/>
            <a:r>
              <a:t>• Galat rata-rata keseluruhan berada di level 1,90 mm, membuktikan akurasi translasi kinematika terapan yang tinggi pada skala desktop manipulator.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HASIL DAN PEMBAHASAN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Rangkuman Kinerja Sistem Keseluruhan &amp; Akses Video Pengujian Daring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8686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Laporan KP | Fahry Rizky Samsudin (1237030018) | Fisika FST UIN SGD Bandung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510528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E3A8A"/>
                </a:solidFill>
                <a:latin typeface="Arial"/>
              </a:defRPr>
            </a:pPr>
            <a:r>
              <a:t>21 /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34440"/>
            <a:ext cx="10728655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2588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Tabel 5.6 Rangkuman Kinerja Sistem Keseluruhan (Mode SIBI vs Mode Teleoperasi)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14400" y="1737360"/>
          <a:ext cx="10362895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962095"/>
                <a:gridCol w="2926080"/>
                <a:gridCol w="2926080"/>
              </a:tblGrid>
              <a:tr h="30861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No.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Parameter Kinerja Evaluasi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Mode SIBI (Manipulator meArm)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Mode Teleoperasi (Dobot Magician)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Akurasi Klasifikasi Gestur / Isyarat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96,73 % (503 / 520 Data Uji Valid)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N/A (Pelacakan Koordinat Kontinu)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2.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Kesesuaian Pemetaan Arah Spasial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N/A (Kendali Diskret Waypoint)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6 / 6 Arah Valid (100 % Sinkron)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3.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Galat Spasial Rata-rata (Euclidean)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-- (Dibatasi Toleransi Servo)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1,90 mm (Galat Terendah 1,28 mm)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4.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Waktu Respons Rata-rata (Latensi)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--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87,25 ms (Near Real-Time Responsif)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5.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Keberhasilan Respons Perintah Kinematik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5 / 5 Perintah Berhasil (100 %)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4 / 4 Target Posisi Berhasil (100 %)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6.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Stabilitas Komputasi Visi RPi 5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Stabil (30 FPS Tanpa Drop Frame)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Stabil (Zero Undervoltage / Zero Jitter)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31520" y="4526280"/>
            <a:ext cx="10728655" cy="16916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617720"/>
            <a:ext cx="10362895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D97706"/>
                </a:solidFill>
              </a:defRPr>
            </a:pPr>
            <a:r>
              <a:t>REPOSITORI VIDEO DOKUMENTASI PENGUJIAN SISTEM (GOOGLE DRIVE)</a:t>
            </a:r>
          </a:p>
          <a:p>
            <a:pPr>
              <a:spcAft>
                <a:spcPts val="400"/>
              </a:spcAft>
              <a:defRPr sz="1100" b="1">
                <a:solidFill>
                  <a:srgbClr val="1E3A8A"/>
                </a:solidFill>
              </a:defRPr>
            </a:pPr>
            <a:r>
              <a:t>Tautan Hyperlink: https://drive.google.com/drive/folders/1tkqb4tbg0jelGM6Wm1YSTbDkor_XJfIM?usp=sharing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1. Video Pengujian Dobot Magician: Dinamika teleoperasi 3D real-time, pelacakan gesture tangan, dan aktivasi suction cup mengangkat objek balok.</a:t>
            </a:r>
            <a:br/>
            <a:r>
              <a:t>2. Video Pengujian meArm 4-DOF: Pengenalan gesture abjad SIBI di depan webcam dan eksekusi pergerakan capit mekanis menjepit silinder.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DOKUMENTASI PENELITIAN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Dokumentasi Implementasi Purwarupa &amp; Stasiun Uji Eksperimen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8686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Laporan KP | Fahry Rizky Samsudin (1237030018) | Fisika FST UIN SGD Bandung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510528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E3A8A"/>
                </a:solidFill>
                <a:latin typeface="Arial"/>
              </a:defRPr>
            </a:pPr>
            <a:r>
              <a:t>22 /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34440"/>
            <a:ext cx="342900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Gambar6_1_mearm_tampak_dep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3246120" cy="243459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" y="3218688"/>
            <a:ext cx="3429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Purwarupa meArm Tampak Depan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3575" y="1234440"/>
            <a:ext cx="342900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Gambar6_2_mearm_dan_mikrokontrol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5015" y="1325880"/>
            <a:ext cx="3246120" cy="243459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73575" y="3218688"/>
            <a:ext cx="3429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meArm dan Mikrokontroler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5630" y="1234440"/>
            <a:ext cx="342900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Gambar6_5_perakitan_rangka_akrili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7070" y="1325880"/>
            <a:ext cx="3246120" cy="24345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015630" y="3218688"/>
            <a:ext cx="3429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Perakitan Rangka Akrilik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94760"/>
            <a:ext cx="342900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ambar6_9_integrasi_sistem_mearm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886200"/>
            <a:ext cx="3246120" cy="243459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1520" y="5779008"/>
            <a:ext cx="3429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Integrasi Sistem di Meja Uji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3575" y="3794760"/>
            <a:ext cx="342900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Gambar6_15_stasiun_teleoperasi_dobot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5015" y="3886200"/>
            <a:ext cx="3246120" cy="243459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373575" y="5779008"/>
            <a:ext cx="3429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Stasiun Kerja Dobot (Sudut 1)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5630" y="3794760"/>
            <a:ext cx="342900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Gambar6_17_manipulator_dobot_suction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07070" y="3886200"/>
            <a:ext cx="3246120" cy="243459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015630" y="5779008"/>
            <a:ext cx="3429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1E3A8A"/>
                </a:solidFill>
              </a:defRPr>
            </a:pPr>
            <a:r>
              <a:t>Manipulator Dobot &amp; Suction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BAB VI: KESIMPULAN &amp; SARAN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Kesimpulan Penelitian &amp; Saran Pengembangan Lanjutan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8686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Laporan KP | Fahry Rizky Samsudin (1237030018) | Fisika FST UIN SGD Bandung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510528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E3A8A"/>
                </a:solidFill>
                <a:latin typeface="Arial"/>
              </a:defRPr>
            </a:pPr>
            <a:r>
              <a:t>23 /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34440"/>
            <a:ext cx="521208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1E3A8A"/>
                </a:solidFill>
              </a:defRPr>
            </a:pPr>
            <a:r>
              <a:t>KESIMPULAN PENELITIAN</a:t>
            </a:r>
          </a:p>
          <a:p>
            <a:pPr>
              <a:defRPr sz="1100" b="1">
                <a:solidFill>
                  <a:srgbClr val="059669"/>
                </a:solidFill>
              </a:defRPr>
            </a:pPr>
            <a:r>
              <a:t>1. Arsitektur Komputasi Tepi Raspberry Pi 5 Mandiri:</a:t>
            </a:r>
          </a:p>
          <a:p>
            <a:pPr>
              <a:spcAft>
                <a:spcPts val="700"/>
              </a:spcAft>
              <a:defRPr sz="1050">
                <a:solidFill>
                  <a:srgbClr val="0F172A"/>
                </a:solidFill>
              </a:defRPr>
            </a:pPr>
            <a:r>
              <a:t>Sistem visi tertanam RPi 5 berhasil mengintegrasikan kamera Logitech, MediaPipe, Python 3.9, dan dua manipulator 4-DOF secara mandiri pada 30 FPS tanpa dependensi komputasi awan.</a:t>
            </a:r>
          </a:p>
          <a:p>
            <a:pPr>
              <a:defRPr sz="1100" b="1">
                <a:solidFill>
                  <a:srgbClr val="059669"/>
                </a:solidFill>
              </a:defRPr>
            </a:pPr>
            <a:r>
              <a:t>2. Keandalan Pengenalan SIBI pada meArm (Akurasi 96,73%):</a:t>
            </a:r>
          </a:p>
          <a:p>
            <a:pPr>
              <a:spcAft>
                <a:spcPts val="700"/>
              </a:spcAft>
              <a:defRPr sz="1050">
                <a:solidFill>
                  <a:srgbClr val="0F172A"/>
                </a:solidFill>
              </a:defRPr>
            </a:pPr>
            <a:r>
              <a:t>Model DNN berbasis 63 fitur landmark berhasil mengklasifikasikan 26 abjad dengan akurasi 96,73% (503/520 benar) pada pengujian real-time, dengan 22 dari 26 abjad berakurasi sempurna 100%.</a:t>
            </a:r>
          </a:p>
          <a:p>
            <a:pPr>
              <a:defRPr sz="1100" b="1">
                <a:solidFill>
                  <a:srgbClr val="059669"/>
                </a:solidFill>
              </a:defRPr>
            </a:pPr>
            <a:r>
              <a:t>3. Presisi dan Latensi Teleoperasi Dobot Magician:</a:t>
            </a:r>
          </a:p>
          <a:p>
            <a:pPr>
              <a:spcAft>
                <a:spcPts val="700"/>
              </a:spcAft>
              <a:defRPr sz="1050">
                <a:solidFill>
                  <a:srgbClr val="0F172A"/>
                </a:solidFill>
              </a:defRPr>
            </a:pPr>
            <a:r>
              <a:t>Teleoperasi Dobot mencatat kesesuaian 6/6 arah valid, galat spasial rata-rata 1,90 mm, dan waktu respons 87,25 ms; filter exponential smoothing (alpha=0,2) sukses mengeliminasi jitter.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34440"/>
            <a:ext cx="5242255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371600"/>
            <a:ext cx="487649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1E3A8A"/>
                </a:solidFill>
              </a:defRPr>
            </a:pPr>
            <a:r>
              <a:t>SARAN PENGEMBANGAN LANJUTAN</a:t>
            </a:r>
          </a:p>
          <a:p>
            <a:pPr>
              <a:spcAft>
                <a:spcPts val="700"/>
              </a:spcAft>
              <a:defRPr sz="1050">
                <a:solidFill>
                  <a:srgbClr val="0F172A"/>
                </a:solidFill>
              </a:defRPr>
            </a:pPr>
            <a:r>
              <a:t>1. Menambah variasi dataset SIBI dari beragam bentuk dan ukuran tangan pengguna guna meningkatkan generalisasi model.</a:t>
            </a:r>
          </a:p>
          <a:p>
            <a:pPr>
              <a:spcAft>
                <a:spcPts val="700"/>
              </a:spcAft>
              <a:defRPr sz="1050">
                <a:solidFill>
                  <a:srgbClr val="0F172A"/>
                </a:solidFill>
              </a:defRPr>
            </a:pPr>
            <a:r>
              <a:t>2. Mengeksplorasi algoritma ensemble seperti SVM atau Random Forest teroptimasi yang tetap ringan dieksekusi pada SBC.</a:t>
            </a:r>
          </a:p>
          <a:p>
            <a:pPr>
              <a:spcAft>
                <a:spcPts val="700"/>
              </a:spcAft>
              <a:defRPr sz="1050">
                <a:solidFill>
                  <a:srgbClr val="0F172A"/>
                </a:solidFill>
              </a:defRPr>
            </a:pPr>
            <a:r>
              <a:t>3. Menerapkan filter temporal lanjutan pada sinyal landmark tangan guna menghasilkan pergerakan manipulator yang kian halus.</a:t>
            </a:r>
          </a:p>
          <a:p>
            <a:pPr>
              <a:spcAft>
                <a:spcPts val="700"/>
              </a:spcAft>
              <a:defRPr sz="1050">
                <a:solidFill>
                  <a:srgbClr val="0F172A"/>
                </a:solidFill>
              </a:defRPr>
            </a:pPr>
            <a:r>
              <a:t>4. Melakukan kalibrasi spasial multi-kamera untuk memperluas jangkauan ruang kerja 3D antara operator dan robot.</a:t>
            </a:r>
          </a:p>
          <a:p>
            <a:pPr>
              <a:spcAft>
                <a:spcPts val="700"/>
              </a:spcAft>
              <a:defRPr sz="1050">
                <a:solidFill>
                  <a:srgbClr val="0F172A"/>
                </a:solidFill>
              </a:defRPr>
            </a:pPr>
            <a:r>
              <a:t>5. Mengembangkan antarmuka GUI cerdas yang mengotomatisasi pencatatan metrik pengujian secara terstruktur.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PENUTUP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Daftar Pustaka Utama &amp; Sesi Tanya Jawab (Q&amp;A)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8686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Laporan KP | Fahry Rizky Samsudin (1237030018) | Fisika FST UIN SGD Bandung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510528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E3A8A"/>
                </a:solidFill>
                <a:latin typeface="Arial"/>
              </a:defRPr>
            </a:pPr>
            <a:r>
              <a:t>24 /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34440"/>
            <a:ext cx="621792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58521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1E3A8A"/>
                </a:solidFill>
              </a:defRPr>
            </a:pPr>
            <a:r>
              <a:t>DAFTAR PUSTAKA UTAMA (FORMAT RESMI)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Craig, J. J. (2018). Introduction to Robotics: Mechanics and Control (4th ed.). Pearson.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Goodfellow, I., Bengio, Y., &amp; Courville, A. (2016). Deep Learning. MIT Press.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Kosasih, A. (2012). Sistem Isyarat Bahasa Indonesia (SIBI). Direktorat Pembinaan Pendidikan Khusus.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Lugaresi, C., et al. (2019). MediaPipe: A Framework for Building Perception Pipelines. arXiv:1906.08172.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Lynch, K. M., &amp; Park, F. C. (2017). Modern Robotics: Mechanics, Planning, and Control. Cambridge Univ. Press.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Rautaray, S. S., &amp; Agrawal, A. (2015). Vision based hand gesture recognition for human computer interaction: a survey. Artif. Intell. Rev., 43(1), 1–54.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Satyanarayanan, M. (2017). The Emergence of Edge Computing. Computer, 50(1), 30–39.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Shi, W., et al. (2016). Edge Computing: Vision and Challenges. IEEE IoT Journal, 3(5), 637–646.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Szeliski, R. (2022). Computer Vision: Algorithms and Applications (2nd ed.). Springer.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Zhang, F., et al. (2020). MediaPipe Hands: On-device Real-time Hand Tracking. arXiv:2006.10214.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0" y="1234440"/>
            <a:ext cx="4327855" cy="49834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2011680"/>
            <a:ext cx="39620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  <a:defRPr sz="2600" b="1">
                <a:solidFill>
                  <a:srgbClr val="1E3A8A"/>
                </a:solidFill>
              </a:defRPr>
            </a:pPr>
            <a:r>
              <a:t>TERIMA KASIH</a:t>
            </a:r>
          </a:p>
          <a:p>
            <a:pPr algn="ctr">
              <a:spcAft>
                <a:spcPts val="1800"/>
              </a:spcAft>
              <a:defRPr sz="1400" b="1">
                <a:solidFill>
                  <a:srgbClr val="0284C7"/>
                </a:solidFill>
              </a:defRPr>
            </a:pPr>
            <a:r>
              <a:t>Sesi Tanya Jawab (Q &amp; A)</a:t>
            </a:r>
            <a:br/>
            <a:r>
              <a:t>Seminar Kerja Praktik 2026</a:t>
            </a:r>
          </a:p>
          <a:p>
            <a:pPr algn="ctr">
              <a:defRPr sz="1150">
                <a:solidFill>
                  <a:srgbClr val="475569"/>
                </a:solidFill>
              </a:defRPr>
            </a:pPr>
            <a:r>
              <a:t>Fahry Rizky Samsudin</a:t>
            </a:r>
            <a:br/>
            <a:r>
              <a:t>NIM: 1237030018</a:t>
            </a:r>
            <a:br/>
            <a:r>
              <a:t>Jurusan Fisika, FST</a:t>
            </a:r>
            <a:br/>
            <a:r>
              <a:t>UIN Sunan Gunung Djati Bandung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